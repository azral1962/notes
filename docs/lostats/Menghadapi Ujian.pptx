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1" r:id="rId6"/>
    <p:sldId id="262" r:id="rId7"/>
    <p:sldId id="259" r:id="rId8"/>
    <p:sldId id="278" r:id="rId9"/>
    <p:sldId id="264" r:id="rId10"/>
    <p:sldId id="271" r:id="rId11"/>
    <p:sldId id="266" r:id="rId12"/>
    <p:sldId id="272" r:id="rId13"/>
    <p:sldId id="267" r:id="rId14"/>
    <p:sldId id="273" r:id="rId15"/>
    <p:sldId id="269" r:id="rId16"/>
    <p:sldId id="274" r:id="rId17"/>
    <p:sldId id="277" r:id="rId18"/>
    <p:sldId id="279" r:id="rId19"/>
    <p:sldId id="270" r:id="rId20"/>
    <p:sldId id="265" r:id="rId21"/>
    <p:sldId id="276" r:id="rId22"/>
    <p:sldId id="275" r:id="rId2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59B0-7AEA-D265-8D4B-0683BBEDC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CF2E0-BD1A-51EF-0AD1-11B6B8CA8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E93B6-2A0F-9DC4-D283-B32C473D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75731-C814-0653-8C27-44368531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3AB3-CDB2-1E59-3946-FCBABA11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0465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9D0F-892E-9A4F-F493-F99B26FB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91512-1EBE-0308-51E8-3CFAB7E62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4B2A-E574-3355-BA40-8D5C6414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ADB5E-5917-7A5F-C2BB-EC502B83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1CF5-000A-D588-139F-BE58D681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3046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9890-2D57-D052-B740-71B4AC82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3838-F9CE-A774-F79A-302C616E2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56B6F-785B-90D3-E4E6-A92CE6D0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3C785-96E6-BB0E-2314-8B4640C5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BD04A-4B29-4519-468A-18C21051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04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E2C4-308E-9EC2-BF75-D6E794DA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C853-AA25-FCFE-9439-F70482508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F5B27-ADEF-2368-327A-9726AA2A5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4D5C2-361D-CF73-0D19-988B5EBC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BF2E1-DDAD-F120-F4EC-ED028E72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E8905-F0FB-B900-3C1C-58DDCC7F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161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6CAC-6B7A-B8A4-CA81-F843D6BF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889A-8317-325A-52EF-CEBFA903A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3B5AA-50E9-2D58-04FE-089CDD3E5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E08B4-4F8D-D48F-18AD-BE23E8E04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9DB0C-1090-6B10-B488-25234FDD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47A2E-951E-8644-C8B9-9442D49B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FB210-7184-0D95-E308-7DB1FFA9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63AF4-CCB4-1B99-3483-461DAE36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8587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CA0B-5E51-F99D-7099-5A5B9EDD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6959B-C4C3-F017-8A5C-E1E79D21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1A22D-8939-334B-9A7B-0B72F93A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C9051-92CE-0AAF-ABB8-DBA09325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028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64BB3-3C77-9613-B327-AF2E0B8C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0CD58-636A-7D82-3CBD-6EDA7E2C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2B8F4-D448-E3C2-44DE-2822CA40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026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7361-5218-333D-36A3-B5142BEE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498A-92D3-9119-0767-A552864D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4B7F7-C198-042E-66AF-25414F5C1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841A1-40BE-30E5-59E3-F04552AE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30769-1373-D1B3-423B-A0E251B9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A8BFF-3882-644D-6095-0043E8C8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436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3216-6398-9D80-65A9-67EBE1DF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27547-05A9-0420-1803-B08498CDE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FA8B0-138A-7A38-E706-5DFE7B31A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AFE78-0E72-E866-4A3E-4E8ECC8B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3C506-1E7E-F13F-39F6-4EA2C25F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417EE-9D9A-9CB0-11BF-62C27358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0585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64FE-5EF6-4728-09D2-5B4786C4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609DE-56B5-C4F3-3830-03E06856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111F2-C5D0-293F-F75A-96E841DC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D6686-5AA7-AAC0-6CBB-3C7CA292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0B133-63EF-3A2C-D75F-AFED154A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669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203CF-39B9-815E-CC86-06AC55687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04C62-FDF1-91C6-59C9-1FDB04BB7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89B79-656F-E740-A70F-9A452B0B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73D3-2206-F601-8376-DA2A3D8E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7082E-35C1-8204-D194-1BE9E089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122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BDB23-405F-48D9-0876-701446666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CFE1-60ED-68C9-B847-72E08160F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7FC3F-D445-D639-9B27-EB43426AF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25998-2EF9-4EC9-8814-56BCC15E0C32}" type="datetimeFigureOut">
              <a:rPr lang="id-ID" smtClean="0"/>
              <a:t>07/10/2022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E51B-FA3A-E603-53E3-D099B47E8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167F-74DD-F919-D15E-40BBCD829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2ACB1-F9DD-49B1-95A5-4703B99AE6A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8289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E748-8A70-C52D-A660-D2CD9DD72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Menghadapi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 II 2111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80FDD-439D-A021-B3E7-86030E7BA0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Persiapan</a:t>
            </a:r>
            <a:r>
              <a:rPr lang="en-US" dirty="0"/>
              <a:t> dan </a:t>
            </a:r>
            <a:r>
              <a:rPr lang="en-US" dirty="0" err="1"/>
              <a:t>Pelaksanaan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1831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C24F-2377-DC8A-0604-DC23A50F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Maksimal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DD746-6658-23C2-16A9-C546F354B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Peraturan:</a:t>
            </a:r>
          </a:p>
          <a:p>
            <a:pPr lvl="1"/>
            <a:r>
              <a:rPr lang="id-ID" dirty="0"/>
              <a:t>Waktu untuk mengerjakan ujian adalah 120 menit.</a:t>
            </a:r>
          </a:p>
          <a:p>
            <a:pPr lvl="1"/>
            <a:r>
              <a:rPr lang="id-ID" sz="3600" dirty="0">
                <a:solidFill>
                  <a:srgbClr val="FF0000"/>
                </a:solidFill>
              </a:rPr>
              <a:t>Sifat ujian adalah open </a:t>
            </a:r>
            <a:r>
              <a:rPr lang="id-ID" sz="3600" dirty="0" err="1">
                <a:solidFill>
                  <a:srgbClr val="FF0000"/>
                </a:solidFill>
              </a:rPr>
              <a:t>book</a:t>
            </a:r>
            <a:r>
              <a:rPr lang="id-ID" sz="3600" dirty="0">
                <a:solidFill>
                  <a:srgbClr val="FF0000"/>
                </a:solidFill>
              </a:rPr>
              <a:t>, open notes </a:t>
            </a:r>
            <a:r>
              <a:rPr lang="id-ID" sz="3600" dirty="0" err="1">
                <a:solidFill>
                  <a:srgbClr val="FF0000"/>
                </a:solidFill>
              </a:rPr>
              <a:t>and</a:t>
            </a:r>
            <a:r>
              <a:rPr lang="id-ID" sz="3600" dirty="0">
                <a:solidFill>
                  <a:srgbClr val="FF0000"/>
                </a:solidFill>
              </a:rPr>
              <a:t> </a:t>
            </a:r>
            <a:r>
              <a:rPr lang="id-ID" sz="3600" dirty="0" err="1">
                <a:solidFill>
                  <a:srgbClr val="FF0000"/>
                </a:solidFill>
              </a:rPr>
              <a:t>tools</a:t>
            </a:r>
            <a:r>
              <a:rPr lang="id-ID" sz="3600" dirty="0">
                <a:solidFill>
                  <a:srgbClr val="FF0000"/>
                </a:solidFill>
              </a:rPr>
              <a:t> (</a:t>
            </a:r>
            <a:r>
              <a:rPr lang="id-ID" sz="3600" dirty="0" err="1">
                <a:solidFill>
                  <a:srgbClr val="FF0000"/>
                </a:solidFill>
              </a:rPr>
              <a:t>python</a:t>
            </a:r>
            <a:r>
              <a:rPr lang="id-ID" sz="3600" dirty="0">
                <a:solidFill>
                  <a:srgbClr val="FF0000"/>
                </a:solidFill>
              </a:rPr>
              <a:t> </a:t>
            </a:r>
            <a:r>
              <a:rPr lang="id-ID" sz="3600" dirty="0" err="1">
                <a:solidFill>
                  <a:srgbClr val="FF0000"/>
                </a:solidFill>
              </a:rPr>
              <a:t>notebook</a:t>
            </a:r>
            <a:r>
              <a:rPr lang="id-ID" sz="3600" dirty="0">
                <a:solidFill>
                  <a:srgbClr val="FF0000"/>
                </a:solidFill>
              </a:rPr>
              <a:t>, </a:t>
            </a:r>
            <a:r>
              <a:rPr lang="id-ID" sz="3600" dirty="0" err="1">
                <a:solidFill>
                  <a:srgbClr val="FF0000"/>
                </a:solidFill>
              </a:rPr>
              <a:t>excel</a:t>
            </a:r>
            <a:r>
              <a:rPr lang="id-ID" sz="3600" dirty="0">
                <a:solidFill>
                  <a:srgbClr val="FF0000"/>
                </a:solidFill>
              </a:rPr>
              <a:t>, R, </a:t>
            </a:r>
            <a:r>
              <a:rPr lang="id-ID" sz="3600" dirty="0" err="1">
                <a:solidFill>
                  <a:srgbClr val="FF0000"/>
                </a:solidFill>
              </a:rPr>
              <a:t>calculator</a:t>
            </a:r>
            <a:r>
              <a:rPr lang="id-ID" sz="3600" dirty="0">
                <a:solidFill>
                  <a:srgbClr val="FF0000"/>
                </a:solidFill>
              </a:rPr>
              <a:t>, </a:t>
            </a:r>
            <a:r>
              <a:rPr lang="id-ID" sz="3600" dirty="0" err="1">
                <a:solidFill>
                  <a:srgbClr val="FF0000"/>
                </a:solidFill>
              </a:rPr>
              <a:t>dll</a:t>
            </a:r>
            <a:r>
              <a:rPr lang="id-ID" sz="3600" dirty="0">
                <a:solidFill>
                  <a:srgbClr val="FF0000"/>
                </a:solidFill>
              </a:rPr>
              <a:t>).</a:t>
            </a:r>
          </a:p>
          <a:p>
            <a:pPr lvl="1"/>
            <a:r>
              <a:rPr lang="id-ID" dirty="0"/>
              <a:t>Dilarang membuka aplikasi yang dapat digunakan untuk </a:t>
            </a:r>
            <a:r>
              <a:rPr lang="id-ID" dirty="0" err="1"/>
              <a:t>chatting</a:t>
            </a:r>
            <a:r>
              <a:rPr lang="id-ID" dirty="0"/>
              <a:t> (</a:t>
            </a:r>
            <a:r>
              <a:rPr lang="id-ID" dirty="0" err="1"/>
              <a:t>whatsapp</a:t>
            </a:r>
            <a:r>
              <a:rPr lang="id-ID" dirty="0"/>
              <a:t>, </a:t>
            </a:r>
            <a:r>
              <a:rPr lang="id-ID" dirty="0" err="1"/>
              <a:t>line</a:t>
            </a:r>
            <a:r>
              <a:rPr lang="id-ID" dirty="0"/>
              <a:t>, dll.) selama ujian.</a:t>
            </a:r>
          </a:p>
          <a:p>
            <a:pPr lvl="1"/>
            <a:r>
              <a:rPr lang="id-ID" dirty="0"/>
              <a:t>Dilarang berkomunikasi kepada sesama peserta kelas maupun kepada orang lain.</a:t>
            </a:r>
          </a:p>
          <a:p>
            <a:pPr lvl="1"/>
            <a:r>
              <a:rPr lang="id-ID" dirty="0"/>
              <a:t>Dilarang bekerja sama dengan orang lain.</a:t>
            </a:r>
          </a:p>
          <a:p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93202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6B67-2288-15B1-570A-665193FF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Siapkan</a:t>
            </a:r>
            <a:r>
              <a:rPr lang="en-US" dirty="0"/>
              <a:t> PLATFORM </a:t>
            </a:r>
            <a:r>
              <a:rPr lang="en-US" dirty="0" err="1"/>
              <a:t>Ujian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Tools Yang di </a:t>
            </a:r>
            <a:r>
              <a:rPr lang="en-US" dirty="0" err="1"/>
              <a:t>Ijinkan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Ujian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DF61-0664-F4CA-5814-AD63F84A2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Kerjakan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Latihan </a:t>
            </a:r>
            <a:r>
              <a:rPr lang="en-US" dirty="0" err="1"/>
              <a:t>secara</a:t>
            </a:r>
            <a:r>
              <a:rPr lang="en-US" dirty="0"/>
              <a:t> manual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berpikir</a:t>
            </a:r>
            <a:r>
              <a:rPr lang="en-US" dirty="0"/>
              <a:t> </a:t>
            </a:r>
            <a:r>
              <a:rPr lang="en-US" dirty="0" err="1"/>
              <a:t>probabilistik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Ulangi</a:t>
            </a:r>
            <a:r>
              <a:rPr lang="en-US" dirty="0"/>
              <a:t> </a:t>
            </a:r>
            <a:r>
              <a:rPr lang="en-US" dirty="0" err="1"/>
              <a:t>pengerjaan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tools yang paling </a:t>
            </a:r>
            <a:r>
              <a:rPr lang="en-US" dirty="0" err="1"/>
              <a:t>disukai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Platform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Gunakan</a:t>
            </a:r>
            <a:r>
              <a:rPr lang="en-US" dirty="0"/>
              <a:t> Platform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soal-soal</a:t>
            </a:r>
            <a:r>
              <a:rPr lang="en-US" dirty="0"/>
              <a:t> </a:t>
            </a:r>
            <a:r>
              <a:rPr lang="en-US" dirty="0" err="1"/>
              <a:t>serupa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Bawa</a:t>
            </a:r>
            <a:r>
              <a:rPr lang="en-US" dirty="0"/>
              <a:t> Platform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ujian</a:t>
            </a:r>
            <a:r>
              <a:rPr lang="en-US" dirty="0"/>
              <a:t> </a:t>
            </a:r>
            <a:r>
              <a:rPr lang="en-US" dirty="0" err="1"/>
              <a:t>ddan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mengerjakan</a:t>
            </a:r>
            <a:r>
              <a:rPr lang="en-US" dirty="0"/>
              <a:t> </a:t>
            </a:r>
            <a:r>
              <a:rPr lang="en-US" dirty="0" err="1"/>
              <a:t>soal-soal</a:t>
            </a:r>
            <a:r>
              <a:rPr lang="en-US" dirty="0"/>
              <a:t> </a:t>
            </a:r>
            <a:r>
              <a:rPr lang="en-US" dirty="0" err="1"/>
              <a:t>ujian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0707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B5CDCA-B637-1F58-CDA4-99F99808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1</a:t>
            </a:r>
            <a:endParaRPr lang="id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0BCC5-A552-3BA8-124F-3E6287B05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 Test CoVID-19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3606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83D9-C712-BE7E-E3CC-45179CF7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1 Rapid Test CoVID-19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EDA5-8A42-84C0-80BF-C59B398C5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29866" cy="1382369"/>
          </a:xfrm>
        </p:spPr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persoalan</a:t>
            </a:r>
            <a:r>
              <a:rPr lang="en-US" dirty="0"/>
              <a:t> Joint Probability </a:t>
            </a:r>
            <a:r>
              <a:rPr lang="en-US" dirty="0" err="1"/>
              <a:t>Hipotesis</a:t>
            </a:r>
            <a:r>
              <a:rPr lang="en-US" dirty="0"/>
              <a:t>-Evidence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diselesaikan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Confusion Matrix </a:t>
            </a:r>
            <a:r>
              <a:rPr lang="en-US" dirty="0" err="1"/>
              <a:t>ditemukan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C65DD5-6745-A68D-F866-FB6508681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390" y="0"/>
            <a:ext cx="3769114" cy="685293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A000-E15D-E83C-A344-EF4102E586CC}"/>
              </a:ext>
            </a:extLst>
          </p:cNvPr>
          <p:cNvGrpSpPr/>
          <p:nvPr/>
        </p:nvGrpSpPr>
        <p:grpSpPr>
          <a:xfrm>
            <a:off x="1342251" y="3650006"/>
            <a:ext cx="4677549" cy="2241747"/>
            <a:chOff x="1342251" y="3650006"/>
            <a:chExt cx="4677549" cy="22417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21E3BE-ECB3-F4CB-442C-BD719A8FEE13}"/>
                </a:ext>
              </a:extLst>
            </p:cNvPr>
            <p:cNvSpPr/>
            <p:nvPr/>
          </p:nvSpPr>
          <p:spPr>
            <a:xfrm>
              <a:off x="1342251" y="3986204"/>
              <a:ext cx="2296211" cy="190554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107106-D1B4-7BBE-1BF8-4C064BB53F4B}"/>
                </a:ext>
              </a:extLst>
            </p:cNvPr>
            <p:cNvSpPr/>
            <p:nvPr/>
          </p:nvSpPr>
          <p:spPr>
            <a:xfrm>
              <a:off x="3638462" y="3986203"/>
              <a:ext cx="2381338" cy="19055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32E0F1-AAF2-AEC0-11A4-AA41887EF770}"/>
                </a:ext>
              </a:extLst>
            </p:cNvPr>
            <p:cNvSpPr txBox="1"/>
            <p:nvPr/>
          </p:nvSpPr>
          <p:spPr>
            <a:xfrm>
              <a:off x="2149558" y="3704807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H: TRUE</a:t>
              </a:r>
              <a:endParaRPr lang="id-ID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8A33A4-7A49-C790-5835-D60FD146D9B5}"/>
                </a:ext>
              </a:extLst>
            </p:cNvPr>
            <p:cNvSpPr txBox="1"/>
            <p:nvPr/>
          </p:nvSpPr>
          <p:spPr>
            <a:xfrm>
              <a:off x="4514745" y="3650006"/>
              <a:ext cx="726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FALSE</a:t>
              </a:r>
              <a:endParaRPr lang="id-ID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21F902-5F41-2703-6DCB-549B2711E118}"/>
                </a:ext>
              </a:extLst>
            </p:cNvPr>
            <p:cNvSpPr/>
            <p:nvPr/>
          </p:nvSpPr>
          <p:spPr>
            <a:xfrm>
              <a:off x="2493579" y="4364118"/>
              <a:ext cx="2167471" cy="1149718"/>
            </a:xfrm>
            <a:prstGeom prst="ellipse">
              <a:avLst/>
            </a:prstGeom>
            <a:solidFill>
              <a:srgbClr val="000000">
                <a:alpha val="43137"/>
              </a:srgb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E: POSITIVE</a:t>
              </a:r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113100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83D9-C712-BE7E-E3CC-45179CF7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Probabilistik</a:t>
            </a:r>
            <a:endParaRPr lang="id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C65DD5-6745-A68D-F866-FB6508681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390" y="0"/>
            <a:ext cx="3769114" cy="6852935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C17CA81B-2F1B-1F2F-F983-1ED4D8F1B1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84693142"/>
              </p:ext>
            </p:extLst>
          </p:nvPr>
        </p:nvGraphicFramePr>
        <p:xfrm>
          <a:off x="1278147" y="4629209"/>
          <a:ext cx="5181600" cy="1112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54060155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31125269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973079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H: TRUE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H:FALSE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14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E: POSITIVE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TPR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FPR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399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E:NEGATIVE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FNR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TNR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4344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399019-8642-62A4-7D00-00E7384D17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02770"/>
              </p:ext>
            </p:extLst>
          </p:nvPr>
        </p:nvGraphicFramePr>
        <p:xfrm>
          <a:off x="838198" y="1865880"/>
          <a:ext cx="6304476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119">
                  <a:extLst>
                    <a:ext uri="{9D8B030D-6E8A-4147-A177-3AD203B41FA5}">
                      <a16:colId xmlns:a16="http://schemas.microsoft.com/office/drawing/2014/main" val="3540601550"/>
                    </a:ext>
                  </a:extLst>
                </a:gridCol>
                <a:gridCol w="1576119">
                  <a:extLst>
                    <a:ext uri="{9D8B030D-6E8A-4147-A177-3AD203B41FA5}">
                      <a16:colId xmlns:a16="http://schemas.microsoft.com/office/drawing/2014/main" val="1311252690"/>
                    </a:ext>
                  </a:extLst>
                </a:gridCol>
                <a:gridCol w="1576119">
                  <a:extLst>
                    <a:ext uri="{9D8B030D-6E8A-4147-A177-3AD203B41FA5}">
                      <a16:colId xmlns:a16="http://schemas.microsoft.com/office/drawing/2014/main" val="973079628"/>
                    </a:ext>
                  </a:extLst>
                </a:gridCol>
                <a:gridCol w="1576119">
                  <a:extLst>
                    <a:ext uri="{9D8B030D-6E8A-4147-A177-3AD203B41FA5}">
                      <a16:colId xmlns:a16="http://schemas.microsoft.com/office/drawing/2014/main" val="147069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14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Positive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Positive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#POSITIVE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399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Negative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Negative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#NEGATIVE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43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#TRUE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#FALSE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#POPULATION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87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07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83D9-C712-BE7E-E3CC-45179CF7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Terjemahkan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</a:t>
            </a:r>
            <a:r>
              <a:rPr lang="en-US" dirty="0" err="1"/>
              <a:t>probabilistuik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dijawawb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3EDA5-8A42-84C0-80BF-C59B398C5ED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3083169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endParaRPr lang="id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3EDA5-8A42-84C0-80BF-C59B398C5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308316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DD38F61-3F79-2AEB-1C8A-61D93BD9B3B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475285" y="1825625"/>
                <a:ext cx="6878515" cy="4351338"/>
              </a:xfrm>
            </p:spPr>
            <p:txBody>
              <a:bodyPr>
                <a:normAutofit/>
              </a:bodyPr>
              <a:lstStyle/>
              <a:p>
                <a:r>
                  <a:rPr lang="en-US" b="0" dirty="0"/>
                  <a:t>9)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10)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11)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12) </a:t>
                </a:r>
                <a:r>
                  <a:rPr lang="en-US" dirty="0" err="1"/>
                  <a:t>Akurasi</a:t>
                </a:r>
                <a:r>
                  <a:rPr lang="en-US" dirty="0"/>
                  <a:t>=TPR*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+ TNR*(1-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)=</a:t>
                </a:r>
                <a:r>
                  <a:rPr lang="en-US" b="0" dirty="0"/>
                  <a:t> 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*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 smtClean="0"/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13)RV J: </a:t>
                </a:r>
                <a:r>
                  <a:rPr lang="en-US" dirty="0" err="1"/>
                  <a:t>jumlah</a:t>
                </a:r>
                <a:r>
                  <a:rPr lang="en-US" dirty="0"/>
                  <a:t> yang </a:t>
                </a:r>
                <a:r>
                  <a:rPr lang="en-US" dirty="0" err="1"/>
                  <a:t>hadir</a:t>
                </a:r>
                <a:r>
                  <a:rPr lang="en-US" dirty="0"/>
                  <a:t> </a:t>
                </a:r>
                <a:r>
                  <a:rPr lang="en-US" dirty="0" err="1"/>
                  <a:t>terinfeksi</a:t>
                </a:r>
                <a:r>
                  <a:rPr lang="en-US" dirty="0"/>
                  <a:t>: 0,1,2,3,…,100. </a:t>
                </a:r>
                <a:br>
                  <a:rPr lang="en-US" dirty="0"/>
                </a:br>
                <a:r>
                  <a:rPr lang="en-US" dirty="0"/>
                  <a:t>Event A: X&gt;0. p=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. P(A</a:t>
                </a:r>
                <a:r>
                  <a:rPr lang="en-US" baseline="30000" dirty="0"/>
                  <a:t>c</a:t>
                </a:r>
                <a:r>
                  <a:rPr lang="en-US" dirty="0"/>
                  <a:t>)=binomial(100,;0). P(A)=1-P( A</a:t>
                </a:r>
                <a:r>
                  <a:rPr lang="en-US" baseline="30000" dirty="0"/>
                  <a:t>c</a:t>
                </a:r>
                <a:r>
                  <a:rPr lang="en-US" dirty="0"/>
                  <a:t>)</a:t>
                </a:r>
              </a:p>
              <a:p>
                <a:endParaRPr lang="id-ID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DD38F61-3F79-2AEB-1C8A-61D93BD9B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475285" y="1825625"/>
                <a:ext cx="6878515" cy="4351338"/>
              </a:xfrm>
              <a:blipFill>
                <a:blip r:embed="rId3"/>
                <a:stretch>
                  <a:fillRect l="-1594" t="-224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719B-B602-9468-1EDA-007136CD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Gunakan</a:t>
            </a:r>
            <a:r>
              <a:rPr lang="en-US" dirty="0"/>
              <a:t> Spreadsheet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mennghitung</a:t>
            </a:r>
            <a:r>
              <a:rPr lang="en-US" dirty="0"/>
              <a:t> </a:t>
            </a:r>
            <a:r>
              <a:rPr lang="en-US" dirty="0" err="1"/>
              <a:t>solusi</a:t>
            </a:r>
            <a:endParaRPr lang="id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6FB6B-0ECF-B643-88DC-EF48E4D30D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7007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2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Magnetic Resonance Imaging Machine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2550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EF10E-E2BA-405F-EC70-899BAE23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tools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second order parameters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FB3D962-74D8-D5C4-E557-D8B16090B46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RV T </a:t>
                </a:r>
                <a:r>
                  <a:rPr lang="en-US" dirty="0" err="1"/>
                  <a:t>berdistribusi</a:t>
                </a:r>
                <a:r>
                  <a:rPr lang="en-US" dirty="0"/>
                  <a:t> Weibull </a:t>
                </a:r>
                <a:r>
                  <a:rPr lang="en-US" dirty="0" err="1"/>
                  <a:t>dengan</a:t>
                </a:r>
                <a:r>
                  <a:rPr lang="en-US" dirty="0"/>
                  <a:t> k=2 dan mean=550. </a:t>
                </a:r>
                <a:r>
                  <a:rPr lang="en-US" dirty="0" err="1"/>
                  <a:t>Hitung</a:t>
                </a:r>
                <a:r>
                  <a:rPr lang="en-US" dirty="0"/>
                  <a:t> </a:t>
                </a:r>
                <a:r>
                  <a:rPr lang="en-US" dirty="0" err="1"/>
                  <a:t>dahulu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14)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15)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16) median</a:t>
                </a:r>
              </a:p>
              <a:p>
                <a:r>
                  <a:rPr lang="en-US" dirty="0"/>
                  <a:t>17)modus</a:t>
                </a:r>
              </a:p>
              <a:p>
                <a:r>
                  <a:rPr lang="en-US" dirty="0"/>
                  <a:t>18) P(T&lt;100)</a:t>
                </a:r>
              </a:p>
              <a:p>
                <a:r>
                  <a:rPr lang="en-US" dirty="0"/>
                  <a:t>19) P(T&lt;200)</a:t>
                </a:r>
              </a:p>
              <a:p>
                <a:r>
                  <a:rPr lang="en-US" dirty="0"/>
                  <a:t>20) P(100&lt;T&lt;500)</a:t>
                </a:r>
              </a:p>
              <a:p>
                <a:r>
                  <a:rPr lang="en-US" dirty="0"/>
                  <a:t>21) P(T&lt;500)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FB3D962-74D8-D5C4-E557-D8B16090B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501" b="-280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75548BC-4C29-67AB-457F-8A735E95781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22) P(T&gt;500)</a:t>
                </a:r>
              </a:p>
              <a:p>
                <a:pPr marL="0" indent="0">
                  <a:buNone/>
                </a:pPr>
                <a:r>
                  <a:rPr lang="en-US" dirty="0"/>
                  <a:t>RV S </a:t>
                </a:r>
                <a:r>
                  <a:rPr lang="en-US" dirty="0" err="1"/>
                  <a:t>berdistribusi</a:t>
                </a:r>
                <a:r>
                  <a:rPr lang="en-US" dirty="0"/>
                  <a:t> Weibull </a:t>
                </a:r>
                <a:r>
                  <a:rPr lang="en-US" dirty="0" err="1"/>
                  <a:t>dengan</a:t>
                </a:r>
                <a:r>
                  <a:rPr lang="en-US" dirty="0"/>
                  <a:t> k=2 dan mean=1000</a:t>
                </a:r>
              </a:p>
              <a:p>
                <a:r>
                  <a:rPr lang="en-US" dirty="0"/>
                  <a:t>23)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24) P(S&lt;200)</a:t>
                </a:r>
              </a:p>
              <a:p>
                <a:r>
                  <a:rPr lang="en-US" dirty="0"/>
                  <a:t>25) P(100&lt;S&lt;500)</a:t>
                </a:r>
              </a:p>
              <a:p>
                <a:r>
                  <a:rPr lang="en-US" dirty="0"/>
                  <a:t>26) P(S&lt;500)</a:t>
                </a:r>
              </a:p>
              <a:p>
                <a:r>
                  <a:rPr lang="en-US" dirty="0"/>
                  <a:t>27) Cari P(T&lt;100) </a:t>
                </a:r>
                <a:r>
                  <a:rPr lang="en-US" dirty="0" err="1"/>
                  <a:t>keduanya</a:t>
                </a:r>
                <a:r>
                  <a:rPr lang="en-US" dirty="0"/>
                  <a:t> </a:t>
                </a:r>
                <a:r>
                  <a:rPr lang="en-US" dirty="0" err="1"/>
                  <a:t>lalu</a:t>
                </a:r>
                <a:r>
                  <a:rPr lang="en-US" dirty="0"/>
                  <a:t> </a:t>
                </a:r>
                <a:r>
                  <a:rPr lang="en-US" dirty="0" err="1"/>
                  <a:t>cek</a:t>
                </a:r>
                <a:r>
                  <a:rPr lang="en-US" dirty="0"/>
                  <a:t> mana yang &lt; 5%</a:t>
                </a: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75548BC-4C29-67AB-457F-8A735E957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501" r="-164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80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3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Tegangan</a:t>
            </a:r>
            <a:r>
              <a:rPr lang="en-US" dirty="0"/>
              <a:t> dan </a:t>
            </a:r>
            <a:r>
              <a:rPr lang="en-US" dirty="0" err="1"/>
              <a:t>Daya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237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3E294-7339-8462-82E4-7ED770B7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menghitun</a:t>
            </a:r>
            <a:r>
              <a:rPr lang="en-US" dirty="0"/>
              <a:t> second moment RVY </a:t>
            </a:r>
            <a:r>
              <a:rPr lang="en-US" dirty="0" err="1"/>
              <a:t>bila</a:t>
            </a:r>
            <a:r>
              <a:rPr lang="en-US" dirty="0"/>
              <a:t> RV X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Y=X^2. X=</a:t>
            </a:r>
            <a:r>
              <a:rPr lang="en-US" dirty="0" err="1"/>
              <a:t>voltase</a:t>
            </a:r>
            <a:r>
              <a:rPr lang="en-US" dirty="0"/>
              <a:t> dan Y=</a:t>
            </a:r>
            <a:r>
              <a:rPr lang="en-US" dirty="0" err="1"/>
              <a:t>daya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0E4B1DA-3AF1-DCC5-E740-49A04025E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P=V^2/R. </a:t>
                </a:r>
              </a:p>
              <a:p>
                <a:r>
                  <a:rPr lang="en-US" dirty="0" err="1"/>
                  <a:t>Dengan</a:t>
                </a:r>
                <a:r>
                  <a:rPr lang="en-US" dirty="0"/>
                  <a:t> f(x) </a:t>
                </a:r>
                <a:r>
                  <a:rPr lang="en-US" dirty="0" err="1"/>
                  <a:t>eksponensial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28) E{P}= E{V^2/R}=1/R*(var(V)+E{V}^2)</a:t>
                </a:r>
              </a:p>
              <a:p>
                <a:r>
                  <a:rPr lang="en-US" dirty="0" err="1"/>
                  <a:t>Dengan</a:t>
                </a:r>
                <a:r>
                  <a:rPr lang="en-US" dirty="0"/>
                  <a:t> f(x) normal:</a:t>
                </a:r>
              </a:p>
              <a:p>
                <a:r>
                  <a:rPr lang="en-US" dirty="0"/>
                  <a:t>29) E{P}= E{V^2/R}=1/R*(var(V)+E{V}^2) </a:t>
                </a:r>
              </a:p>
              <a:p>
                <a:r>
                  <a:rPr lang="en-US" dirty="0"/>
                  <a:t>30) var{P}=</a:t>
                </a:r>
                <a:endParaRPr lang="id-ID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0E4B1DA-3AF1-DCC5-E740-49A04025E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709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4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Transmisi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Data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8464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89F29E-D676-EA0B-F33F-F31743BE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bernouoli</a:t>
            </a:r>
            <a:r>
              <a:rPr lang="en-US" dirty="0"/>
              <a:t>/binomial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Poisson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EF36463-4ACC-4BFE-AA40-AF5B8376300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31)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=mean=0.015</a:t>
                </a:r>
              </a:p>
              <a:p>
                <a:r>
                  <a:rPr lang="en-US" dirty="0"/>
                  <a:t>32) X </a:t>
                </a:r>
                <a:r>
                  <a:rPr lang="en-US" dirty="0" err="1"/>
                  <a:t>jumlah</a:t>
                </a:r>
                <a:r>
                  <a:rPr lang="en-US" dirty="0"/>
                  <a:t> bit error, P(x&lt;8)=</a:t>
                </a:r>
                <a:r>
                  <a:rPr lang="en-US" dirty="0" err="1"/>
                  <a:t>cdf</a:t>
                </a:r>
                <a:r>
                  <a:rPr lang="en-US" dirty="0"/>
                  <a:t>(7), </a:t>
                </a:r>
                <a:r>
                  <a:rPr lang="en-US" dirty="0" err="1"/>
                  <a:t>dari</a:t>
                </a:r>
                <a:r>
                  <a:rPr lang="en-US" dirty="0"/>
                  <a:t> binomial(7,110,0.015)</a:t>
                </a:r>
              </a:p>
              <a:p>
                <a:r>
                  <a:rPr lang="en-US" dirty="0"/>
                  <a:t>33) E{x}=n*p</a:t>
                </a:r>
              </a:p>
              <a:p>
                <a:r>
                  <a:rPr lang="en-US" dirty="0"/>
                  <a:t>34) var=</a:t>
                </a:r>
                <a:r>
                  <a:rPr lang="en-US" dirty="0" err="1"/>
                  <a:t>npq</a:t>
                </a:r>
                <a:endParaRPr lang="en-US" dirty="0"/>
              </a:p>
              <a:p>
                <a:r>
                  <a:rPr lang="en-US" dirty="0"/>
                  <a:t>35) Y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paket</a:t>
                </a:r>
                <a:r>
                  <a:rPr lang="en-US" dirty="0"/>
                  <a:t> error, </a:t>
                </a:r>
                <a:r>
                  <a:rPr lang="en-US" dirty="0" err="1"/>
                  <a:t>maka</a:t>
                </a:r>
                <a:r>
                  <a:rPr lang="en-US" dirty="0"/>
                  <a:t> P(Y=0)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biniomial</a:t>
                </a:r>
                <a:r>
                  <a:rPr lang="en-US" dirty="0"/>
                  <a:t>(0,110, </a:t>
                </a:r>
                <a:r>
                  <a:rPr lang="en-US" dirty="0" err="1"/>
                  <a:t>soal</a:t>
                </a:r>
                <a:r>
                  <a:rPr lang="en-US" dirty="0"/>
                  <a:t> 32)</a:t>
                </a:r>
              </a:p>
              <a:p>
                <a:r>
                  <a:rPr lang="en-US" dirty="0"/>
                  <a:t>36) </a:t>
                </a:r>
                <a:r>
                  <a:rPr lang="en-US" dirty="0" err="1"/>
                  <a:t>cdf</a:t>
                </a:r>
                <a:r>
                  <a:rPr lang="en-US" dirty="0"/>
                  <a:t>(1) </a:t>
                </a:r>
                <a:r>
                  <a:rPr lang="en-US" dirty="0" err="1"/>
                  <a:t>dari</a:t>
                </a:r>
                <a:r>
                  <a:rPr lang="en-US" dirty="0"/>
                  <a:t> binomial(110,soal 32)</a:t>
                </a:r>
                <a:endParaRPr lang="id-ID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EF36463-4ACC-4BFE-AA40-AF5B83763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2801" b="-7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28F73-7495-59DF-CC27-BD8057F2FD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37) E{y}=np, n=110, p=1-soal 35</a:t>
            </a:r>
          </a:p>
          <a:p>
            <a:r>
              <a:rPr lang="en-US" dirty="0"/>
              <a:t>38) var{y}=</a:t>
            </a:r>
            <a:r>
              <a:rPr lang="en-US" dirty="0" err="1"/>
              <a:t>npq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210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5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Komunikasi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2080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DE34C9-7EAA-DCDD-EC20-81AFA760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binomial dan </a:t>
            </a:r>
            <a:br>
              <a:rPr lang="en-US" dirty="0"/>
            </a:br>
            <a:r>
              <a:rPr lang="en-US" dirty="0" err="1"/>
              <a:t>komintaorial</a:t>
            </a:r>
            <a:endParaRPr lang="id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389166-5AD0-375C-2417-AEF1BE3B74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Terdapat</a:t>
            </a:r>
            <a:r>
              <a:rPr lang="en-US" dirty="0"/>
              <a:t> 11 link </a:t>
            </a:r>
            <a:r>
              <a:rPr lang="en-US" dirty="0" err="1"/>
              <a:t>dengan</a:t>
            </a:r>
            <a:r>
              <a:rPr lang="en-US" dirty="0"/>
              <a:t> p=0,95 </a:t>
            </a:r>
            <a:r>
              <a:rPr lang="en-US" dirty="0" err="1"/>
              <a:t>atau</a:t>
            </a:r>
            <a:r>
              <a:rPr lang="en-US" dirty="0"/>
              <a:t> q=0,05</a:t>
            </a:r>
          </a:p>
          <a:p>
            <a:r>
              <a:rPr lang="en-US" dirty="0"/>
              <a:t>39)X </a:t>
            </a:r>
            <a:r>
              <a:rPr lang="en-US" dirty="0" err="1"/>
              <a:t>jumlah</a:t>
            </a:r>
            <a:r>
              <a:rPr lang="en-US" dirty="0"/>
              <a:t> link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. P{x=1,2,3,4}=F{4}-F{1} </a:t>
            </a:r>
            <a:r>
              <a:rPr lang="en-US" dirty="0" err="1"/>
              <a:t>dari</a:t>
            </a:r>
            <a:r>
              <a:rPr lang="en-US" dirty="0"/>
              <a:t> binomial (11,p)</a:t>
            </a:r>
          </a:p>
          <a:p>
            <a:r>
              <a:rPr lang="en-US" dirty="0"/>
              <a:t>40) P{X=2}</a:t>
            </a:r>
          </a:p>
          <a:p>
            <a:r>
              <a:rPr lang="en-US" dirty="0"/>
              <a:t>41) F{8}</a:t>
            </a:r>
          </a:p>
          <a:p>
            <a:r>
              <a:rPr lang="en-US" dirty="0"/>
              <a:t>42) P{C-E on |11-8 ON} . </a:t>
            </a:r>
            <a:r>
              <a:rPr lang="en-US" dirty="0" err="1"/>
              <a:t>Vari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en-US" dirty="0"/>
              <a:t> C-E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dijangkau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3 link </a:t>
            </a:r>
            <a:r>
              <a:rPr lang="en-US" dirty="0" err="1"/>
              <a:t>ada</a:t>
            </a:r>
            <a:r>
              <a:rPr lang="en-US" dirty="0"/>
              <a:t> . </a:t>
            </a:r>
            <a:r>
              <a:rPr lang="en-US" dirty="0" err="1"/>
              <a:t>Probabilitas</a:t>
            </a:r>
            <a:r>
              <a:rPr lang="en-US" dirty="0"/>
              <a:t>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en-US" dirty="0"/>
              <a:t> C-E/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rute</a:t>
            </a:r>
            <a:endParaRPr lang="id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C4C1A-7B05-8944-CA2A-71B7C1BF52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16740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810-A9E5-DDAE-D5F6-DE27EA2C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Jumlah</a:t>
            </a:r>
            <a:r>
              <a:rPr lang="en-US" dirty="0"/>
              <a:t> link c </a:t>
            </a:r>
            <a:r>
              <a:rPr lang="en-US" dirty="0" err="1"/>
              <a:t>ke</a:t>
            </a:r>
            <a:r>
              <a:rPr lang="en-US" dirty="0"/>
              <a:t> e,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3 link </a:t>
            </a:r>
            <a:r>
              <a:rPr lang="en-US" dirty="0" err="1"/>
              <a:t>hidup</a:t>
            </a:r>
            <a:endParaRPr lang="id-ID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8407C1C-A69C-E8A4-33A3-5F12C2163F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516680"/>
              </p:ext>
            </p:extLst>
          </p:nvPr>
        </p:nvGraphicFramePr>
        <p:xfrm>
          <a:off x="838200" y="1825625"/>
          <a:ext cx="10515588" cy="259588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887083">
                  <a:extLst>
                    <a:ext uri="{9D8B030D-6E8A-4147-A177-3AD203B41FA5}">
                      <a16:colId xmlns:a16="http://schemas.microsoft.com/office/drawing/2014/main" val="2567801262"/>
                    </a:ext>
                  </a:extLst>
                </a:gridCol>
                <a:gridCol w="865515">
                  <a:extLst>
                    <a:ext uri="{9D8B030D-6E8A-4147-A177-3AD203B41FA5}">
                      <a16:colId xmlns:a16="http://schemas.microsoft.com/office/drawing/2014/main" val="1499985377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665228011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318672819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450219332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111139617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162165054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091463031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8490875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873485193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4348945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1376558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iv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77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72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167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8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48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02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0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44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810-A9E5-DDAE-D5F6-DE27EA2C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Jumlah</a:t>
            </a:r>
            <a:r>
              <a:rPr lang="en-US" dirty="0"/>
              <a:t> link c </a:t>
            </a:r>
            <a:r>
              <a:rPr lang="en-US" dirty="0" err="1"/>
              <a:t>ke</a:t>
            </a:r>
            <a:r>
              <a:rPr lang="en-US" dirty="0"/>
              <a:t> e,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2 link </a:t>
            </a:r>
            <a:r>
              <a:rPr lang="en-US" dirty="0" err="1"/>
              <a:t>hidup</a:t>
            </a:r>
            <a:endParaRPr lang="id-ID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8407C1C-A69C-E8A4-33A3-5F12C2163F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943231"/>
              </p:ext>
            </p:extLst>
          </p:nvPr>
        </p:nvGraphicFramePr>
        <p:xfrm>
          <a:off x="838200" y="1825625"/>
          <a:ext cx="10515588" cy="259588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887083">
                  <a:extLst>
                    <a:ext uri="{9D8B030D-6E8A-4147-A177-3AD203B41FA5}">
                      <a16:colId xmlns:a16="http://schemas.microsoft.com/office/drawing/2014/main" val="2567801262"/>
                    </a:ext>
                  </a:extLst>
                </a:gridCol>
                <a:gridCol w="865515">
                  <a:extLst>
                    <a:ext uri="{9D8B030D-6E8A-4147-A177-3AD203B41FA5}">
                      <a16:colId xmlns:a16="http://schemas.microsoft.com/office/drawing/2014/main" val="1499985377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665228011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318672819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450219332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111139617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162165054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091463031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8490875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873485193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343489456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1376558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iv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viii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77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72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167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8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**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48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02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0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649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6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Center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77237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082C9B-8C97-C758-176F-6435B98B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dimoldelkan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table </a:t>
            </a:r>
            <a:r>
              <a:rPr lang="en-US" dirty="0" err="1"/>
              <a:t>ruang</a:t>
            </a:r>
            <a:r>
              <a:rPr lang="en-US" dirty="0"/>
              <a:t> sample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109-118) </a:t>
            </a:r>
            <a:endParaRPr lang="id-ID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1A64936-F238-E849-6C13-C25BFAEC388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98971204"/>
              </p:ext>
            </p:extLst>
          </p:nvPr>
        </p:nvGraphicFramePr>
        <p:xfrm>
          <a:off x="838200" y="1825625"/>
          <a:ext cx="5181595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634486184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44672777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73354386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639442671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684010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X=#ON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DC1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DC2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DC3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87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89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0.009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13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0.009</a:t>
                      </a:r>
                      <a:endParaRPr lang="id-ID" dirty="0"/>
                    </a:p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9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2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0.009</a:t>
                      </a:r>
                      <a:endParaRPr lang="id-ID" dirty="0"/>
                    </a:p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67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0.081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083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0.729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60313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7D9BD-415E-A998-AC44-8E2697C64B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50) P(X=0)=0.001</a:t>
            </a:r>
          </a:p>
          <a:p>
            <a:r>
              <a:rPr lang="en-US" dirty="0"/>
              <a:t>51) </a:t>
            </a:r>
            <a:r>
              <a:rPr lang="en-US" dirty="0" err="1"/>
              <a:t>Pr</a:t>
            </a:r>
            <a:r>
              <a:rPr lang="en-US" dirty="0"/>
              <a:t>(X &lt;2)=0.028</a:t>
            </a:r>
          </a:p>
          <a:p>
            <a:r>
              <a:rPr lang="en-US" dirty="0"/>
              <a:t>52) Ex[X]=rata-rata Binomial(3,0.9)= 3*0.9=2.7</a:t>
            </a:r>
          </a:p>
          <a:p>
            <a:r>
              <a:rPr lang="en-US" dirty="0"/>
              <a:t>53)var(X)=</a:t>
            </a:r>
            <a:r>
              <a:rPr lang="en-US" dirty="0" err="1"/>
              <a:t>npq</a:t>
            </a:r>
            <a:r>
              <a:rPr lang="en-US" dirty="0"/>
              <a:t>=3*0.9*0.1=0.27</a:t>
            </a:r>
          </a:p>
          <a:p>
            <a:r>
              <a:rPr lang="en-US" dirty="0"/>
              <a:t>54) Y:binomial(3,0.1). E{Y}=3*0.1=0.3</a:t>
            </a:r>
          </a:p>
          <a:p>
            <a:r>
              <a:rPr lang="en-US" dirty="0"/>
              <a:t>55) var(Y)=</a:t>
            </a:r>
            <a:r>
              <a:rPr lang="en-US" dirty="0" err="1"/>
              <a:t>npq</a:t>
            </a:r>
            <a:r>
              <a:rPr lang="en-US" dirty="0"/>
              <a:t>=0.27</a:t>
            </a:r>
          </a:p>
          <a:p>
            <a:r>
              <a:rPr lang="en-US" dirty="0"/>
              <a:t>56) </a:t>
            </a:r>
            <a:r>
              <a:rPr lang="en-US" dirty="0" err="1"/>
              <a:t>covr</a:t>
            </a:r>
            <a:r>
              <a:rPr lang="en-US" dirty="0"/>
              <a:t>(X,Y)=E{XY}-E{X}E{Y}=-0.27 </a:t>
            </a:r>
            <a:r>
              <a:rPr lang="en-US" dirty="0" err="1"/>
              <a:t>lih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117</a:t>
            </a:r>
          </a:p>
          <a:p>
            <a:r>
              <a:rPr lang="en-US" dirty="0"/>
              <a:t>57) </a:t>
            </a:r>
            <a:r>
              <a:rPr lang="en-US" dirty="0" err="1"/>
              <a:t>koef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x y = -1; </a:t>
            </a:r>
            <a:r>
              <a:rPr lang="en-US" dirty="0" err="1"/>
              <a:t>kih</a:t>
            </a:r>
            <a:r>
              <a:rPr lang="en-US" dirty="0"/>
              <a:t> p 118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4330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25AF75-98B4-0E63-7A90-E8879535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Soal</a:t>
            </a:r>
            <a:r>
              <a:rPr lang="en-US" dirty="0"/>
              <a:t> 7</a:t>
            </a:r>
            <a:endParaRPr lang="id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77F50-75F2-7249-0365-35493705E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Mesin</a:t>
            </a:r>
            <a:r>
              <a:rPr lang="en-US" dirty="0"/>
              <a:t> copy /</a:t>
            </a:r>
            <a:r>
              <a:rPr lang="en-US" dirty="0" err="1"/>
              <a:t>ct</a:t>
            </a:r>
            <a:r>
              <a:rPr lang="en-US" dirty="0"/>
              <a:t>-scan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94631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58A5-019C-EA5B-2A53-38B92FC9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Poisso</a:t>
            </a:r>
            <a:r>
              <a:rPr lang="en-US" dirty="0"/>
              <a:t>, </a:t>
            </a:r>
            <a:r>
              <a:rPr lang="en-US" dirty="0" err="1"/>
              <a:t>Erlangn</a:t>
            </a:r>
            <a:r>
              <a:rPr lang="en-US" dirty="0"/>
              <a:t> dan </a:t>
            </a:r>
            <a:r>
              <a:rPr lang="en-US" dirty="0" err="1"/>
              <a:t>ekspoonensial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5159F-C258-BC3F-E332-8FD08776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Beta = 5000, Lambda =1/5000</a:t>
            </a:r>
          </a:p>
          <a:p>
            <a:r>
              <a:rPr lang="en-US" dirty="0"/>
              <a:t>58) RV T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kegagalan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pdf </a:t>
            </a:r>
            <a:r>
              <a:rPr lang="en-US" dirty="0" err="1"/>
              <a:t>Eksponensial</a:t>
            </a:r>
            <a:r>
              <a:rPr lang="en-US" dirty="0"/>
              <a:t>. P(T&lt;10000)= 1-exp(-Lambda*10000)</a:t>
            </a:r>
          </a:p>
          <a:p>
            <a:r>
              <a:rPr lang="en-US" dirty="0"/>
              <a:t>59 RV M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kegagalan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T. pdf Erlang (l=).P(M=3)</a:t>
            </a:r>
          </a:p>
          <a:p>
            <a:r>
              <a:rPr lang="en-US" dirty="0"/>
              <a:t>60) F(M&lt;=3). Pdf </a:t>
            </a:r>
            <a:r>
              <a:rPr lang="en-US" dirty="0" err="1"/>
              <a:t>poisson</a:t>
            </a:r>
            <a:r>
              <a:rPr lang="en-US" dirty="0"/>
              <a:t> (3,20000/5000)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2572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1178</Words>
  <Application>Microsoft Office PowerPoint</Application>
  <PresentationFormat>Widescreen</PresentationFormat>
  <Paragraphs>245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Menghadapi Ujian II 2111</vt:lpstr>
      <vt:lpstr>Memanfaatkan Fasilitas Maksimal</vt:lpstr>
      <vt:lpstr>Siapkan PLATFORM Ujian Menggunakan Tools Yang di Ijinkan Untuk Digunakan Saat Ujian</vt:lpstr>
      <vt:lpstr>Soal 1</vt:lpstr>
      <vt:lpstr>Soal 1 Rapid Test CoVID-19</vt:lpstr>
      <vt:lpstr>Model Probabilistik</vt:lpstr>
      <vt:lpstr>Terjemahkan pertanyaan ke dalam Bahasa probabilistuik untuk dijawawb</vt:lpstr>
      <vt:lpstr>Gunakan Spreadsheet Untuk mennghitung solusi</vt:lpstr>
      <vt:lpstr>Soal 2</vt:lpstr>
      <vt:lpstr>Soal ini tentang menggunakan tools untuk menghitung second order parameters</vt:lpstr>
      <vt:lpstr>Soal 3</vt:lpstr>
      <vt:lpstr>Soal ini menghitun second moment RVY bila RV X diketahui dimana Y=X^2. X=voltase dan Y=daya</vt:lpstr>
      <vt:lpstr>Soal 4</vt:lpstr>
      <vt:lpstr>Problem ini kombinasi bernouoli/binomial dengan probabilitas ditentukan Poisson</vt:lpstr>
      <vt:lpstr>Soal 5</vt:lpstr>
      <vt:lpstr>Soal ini binomial dan  komintaorial</vt:lpstr>
      <vt:lpstr>Jumlah link c ke e, saat hanya 3 link hidup</vt:lpstr>
      <vt:lpstr>Jumlah link c ke e, saat hanya 2 link hidup</vt:lpstr>
      <vt:lpstr>Soal 6</vt:lpstr>
      <vt:lpstr>Soal ini dimoldelkan dengan table ruang sample (lihat buku teks hal 109-118) </vt:lpstr>
      <vt:lpstr>Soal 7</vt:lpstr>
      <vt:lpstr>Menerapkan Distribusi Poisso, Erlangn dan ekspoonensial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Menghadapi Ujian</dc:title>
  <dc:creator>Armein Z. R. Langi</dc:creator>
  <cp:lastModifiedBy>Armein Z.R. Langi</cp:lastModifiedBy>
  <cp:revision>9</cp:revision>
  <dcterms:created xsi:type="dcterms:W3CDTF">2022-10-04T23:55:09Z</dcterms:created>
  <dcterms:modified xsi:type="dcterms:W3CDTF">2022-10-07T04:25:03Z</dcterms:modified>
</cp:coreProperties>
</file>