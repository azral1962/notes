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2">
  <p:sldMasterIdLst>
    <p:sldMasterId id="2147483648" r:id="rId4"/>
  </p:sldMasterIdLst>
  <p:notesMasterIdLst>
    <p:notesMasterId r:id="rId10"/>
  </p:notesMasterIdLst>
  <p:sldIdLst>
    <p:sldId id="388" r:id="rId5"/>
    <p:sldId id="383" r:id="rId6"/>
    <p:sldId id="392" r:id="rId7"/>
    <p:sldId id="393" r:id="rId8"/>
    <p:sldId id="39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7234759-158C-49CC-9609-AAD94A16CF1F}">
          <p14:sldIdLst>
            <p14:sldId id="388"/>
            <p14:sldId id="383"/>
            <p14:sldId id="392"/>
            <p14:sldId id="393"/>
            <p14:sldId id="394"/>
          </p14:sldIdLst>
        </p14:section>
        <p14:section name="Untitled Section" id="{41A0F12B-AC1E-4948-8691-DA3349B1BC0F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990033"/>
    <a:srgbClr val="1AAC9C"/>
    <a:srgbClr val="0000FF"/>
    <a:srgbClr val="FC68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12"/>
  </p:normalViewPr>
  <p:slideViewPr>
    <p:cSldViewPr snapToGrid="0">
      <p:cViewPr varScale="1">
        <p:scale>
          <a:sx n="56" d="100"/>
          <a:sy n="56" d="100"/>
        </p:scale>
        <p:origin x="100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D33AAD-A443-44FB-8EC4-D432D7D22756}" type="datetimeFigureOut">
              <a:rPr lang="en-ID" smtClean="0"/>
              <a:t>13/03/2026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4F952C-E9E2-441D-81B1-CBAD27DE429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70340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DE324-A89B-16E1-273E-A099EDF38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CE8A16-DAB4-67E9-C45E-F9E37355D0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869E3E-ADAA-CB71-E4BC-D4981FDD92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49FD3F-6729-3F54-7EEF-5059A998E2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4F952C-E9E2-441D-81B1-CBAD27DE429C}" type="slidenum">
              <a:rPr lang="en-ID" smtClean="0"/>
              <a:t>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214032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49912-BA30-2C3D-AE9E-0A7E354CA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C442A2-336B-79CF-408F-0201A12111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8B61ED-EFEE-7224-8BBF-8584B85E03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0A8C96-1819-6064-FA19-CADAF33029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4F952C-E9E2-441D-81B1-CBAD27DE429C}" type="slidenum">
              <a:rPr lang="en-ID" smtClean="0"/>
              <a:t>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162260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F3E64-87E3-EEA4-5732-DDEEDD9E5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7604EA-6121-FFEA-0945-EA2F1FAD4A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A4E1BC-09F7-B395-D1CE-E841C683E8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207EA3-AA2B-9683-F36F-5797A0924A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4F952C-E9E2-441D-81B1-CBAD27DE429C}" type="slidenum">
              <a:rPr lang="en-ID" smtClean="0"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891427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545C0-B141-B572-5932-8B00828BA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461C06-0DA6-18E2-B8DB-CF1D5B5AB7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67570E-94BB-891F-7367-40EE9D15BC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81AFB0-AC60-EEB4-EA2A-AC84E12775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4F952C-E9E2-441D-81B1-CBAD27DE429C}" type="slidenum">
              <a:rPr lang="en-ID" smtClean="0"/>
              <a:t>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414536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0129E-32D0-541D-3629-A5635BE96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4A6E6E-7B21-8332-49F4-6B32FAEE69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D94771-1F79-5599-121B-2684D4AE52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4EAB8-5392-0EB0-6B58-F5AB291496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4F952C-E9E2-441D-81B1-CBAD27DE429C}" type="slidenum">
              <a:rPr lang="en-ID" smtClean="0"/>
              <a:t>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21238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D1CB5-9C19-BAFE-83D8-69AA92EA0A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A4D97C-9322-F674-3F0C-32A4690058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ECAE0-694D-4EBD-E340-ABF770A46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005B9-2A2F-4C38-9E0C-736E00FFCF35}" type="datetimeFigureOut">
              <a:rPr lang="en-ID" smtClean="0"/>
              <a:t>13/03/2026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AB8B76-6950-7937-3B54-F9FA13949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72386-D915-F30E-5C60-A64B190C1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0494B-98E0-4DC8-A38B-CEB7477DB9D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63704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14409-F192-6178-5448-E3C022166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08504-059F-CCC3-0618-94EFCDA69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18DE3-C2D1-44DB-3AD5-9CBC6B0AA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005B9-2A2F-4C38-9E0C-736E00FFCF35}" type="datetimeFigureOut">
              <a:rPr lang="en-ID" smtClean="0"/>
              <a:t>13/03/2026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B3B126-1AC3-5603-3F81-CC32C842C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A315C-6A8D-A324-7FBE-7CB749059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0494B-98E0-4DC8-A38B-CEB7477DB9D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23952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8350B-8B4A-AF05-2BB7-8543D574C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8C22D6-1FE0-2BF3-417D-0E53368CBB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963A6-6376-2BA7-941E-8C1685CD2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005B9-2A2F-4C38-9E0C-736E00FFCF35}" type="datetimeFigureOut">
              <a:rPr lang="en-ID" smtClean="0"/>
              <a:t>13/03/2026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9D7AB-0ABF-2DA8-FCA8-ECB160807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B28E72-6ACC-BE07-9E72-58AEC34FC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0494B-98E0-4DC8-A38B-CEB7477DB9D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78877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6FC94-8F5A-B081-F9B7-CACFA8234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E02D0-F0E4-E109-71E9-7859DAF205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2D43FA-212C-636D-8D69-4991F28C79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D20FAA-1D2E-121E-ACD0-CE5ECD353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005B9-2A2F-4C38-9E0C-736E00FFCF35}" type="datetimeFigureOut">
              <a:rPr lang="en-ID" smtClean="0"/>
              <a:t>13/03/2026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CDCD45-DCD1-8258-0DDF-C8966A931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FF581A-5AB4-80D8-E197-8B3E0B2D3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0494B-98E0-4DC8-A38B-CEB7477DB9D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07678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95DC5-6DE2-6D95-3CC9-203AEF926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F08F29-8021-D287-5AAE-DAEA5473FD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F892FC-A90C-6803-2A5A-9D8CD555F9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0B059D-6C19-81D8-7C07-D8580F56AE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E6433A-ADCA-E6EA-D440-FFF43581B4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E0AEC7-ACBB-2337-11FF-A3D087C1E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005B9-2A2F-4C38-9E0C-736E00FFCF35}" type="datetimeFigureOut">
              <a:rPr lang="en-ID" smtClean="0"/>
              <a:t>13/03/2026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C70AD6-771C-D578-C947-B14135130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5DE16C-9962-F26C-271A-AA9268565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0494B-98E0-4DC8-A38B-CEB7477DB9D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09966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8C1DA-C15C-646A-E1ED-A63B22824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F714A1-EE8C-3904-1E74-D41B7E50F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005B9-2A2F-4C38-9E0C-736E00FFCF35}" type="datetimeFigureOut">
              <a:rPr lang="en-ID" smtClean="0"/>
              <a:t>13/03/2026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367BAB-849B-CF74-1D78-37568EBE0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A0256E-AEFD-86ED-DC1D-2643CBF9F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0494B-98E0-4DC8-A38B-CEB7477DB9D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69838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14194A-CF8F-1936-AC15-08541C2C6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005B9-2A2F-4C38-9E0C-736E00FFCF35}" type="datetimeFigureOut">
              <a:rPr lang="en-ID" smtClean="0"/>
              <a:t>13/03/2026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628B88-0A86-1002-213E-EF5B6F8B2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A16D3B-76A1-4377-51BB-79FA95DD6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0494B-98E0-4DC8-A38B-CEB7477DB9D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71680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48F37-61B3-2CBD-EF71-59965931E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1BD1F-035B-4031-2756-E2098D244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36926F-8F3E-EC49-D6D4-C8F8743AD8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4FD3B5-3D26-D3D1-E667-141A46003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005B9-2A2F-4C38-9E0C-736E00FFCF35}" type="datetimeFigureOut">
              <a:rPr lang="en-ID" smtClean="0"/>
              <a:t>13/03/2026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88E3C6-50C9-E58D-8BF6-5C82F493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CF29AA-7C5F-FEA8-9674-B699A3729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0494B-98E0-4DC8-A38B-CEB7477DB9D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19798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68502-AA02-8240-5C00-8A45746F3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40E83A-94ED-C26A-DBB7-60936BE24A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EA7347-AC3E-8FF6-E182-95D8D36025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30C6CE-164B-7314-2FFB-F76CFD2AD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005B9-2A2F-4C38-9E0C-736E00FFCF35}" type="datetimeFigureOut">
              <a:rPr lang="en-ID" smtClean="0"/>
              <a:t>13/03/2026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1DB29E-2B6F-86CC-84AF-72BED0547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1E6BE1-D5F1-0084-1C18-AEF7A5F9D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0494B-98E0-4DC8-A38B-CEB7477DB9D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95968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F4BFF-1176-B944-F38D-7081ED265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34BC84-8E38-6D9B-F2EC-404698A15B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9A86C-3D3B-8E84-50A9-BBD6C2D7A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005B9-2A2F-4C38-9E0C-736E00FFCF35}" type="datetimeFigureOut">
              <a:rPr lang="en-ID" smtClean="0"/>
              <a:t>13/03/2026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8BCE2-1EA7-9D55-4A61-6BDF3FA30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732A3-4482-CE7C-7AB5-B3735A448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0494B-98E0-4DC8-A38B-CEB7477DB9D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96774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83F93D-5BE0-71E4-22AC-E7928C4A81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B16564-3DEE-FCA3-EE76-25EDE8BB50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DFBEA-76D6-0E47-7BDC-60503F367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005B9-2A2F-4C38-9E0C-736E00FFCF35}" type="datetimeFigureOut">
              <a:rPr lang="en-ID" smtClean="0"/>
              <a:t>13/03/2026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A5F9B-B850-F7FA-4493-F855F41CC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BB5BB-F7AA-1560-1D8A-66980DE4F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0494B-98E0-4DC8-A38B-CEB7477DB9D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40955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2EFE93-5144-C124-2006-87F4B9A84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E1DB0-7433-0129-F5BF-D8366E9CEB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96460-F6A2-B8B1-2B00-C717DC579F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0005B9-2A2F-4C38-9E0C-736E00FFCF35}" type="datetimeFigureOut">
              <a:rPr lang="en-ID" smtClean="0"/>
              <a:t>13/03/2026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4940B-DFE3-9134-052C-F65B818F84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B785C-3519-9538-300C-1D68AC5DE0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20494B-98E0-4DC8-A38B-CEB7477DB9D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34802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3D6F6-61F8-6E69-C4BC-55D87BC1B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245E0119-EFF6-2945-0E1D-6D30A67BA17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6614068"/>
            <a:ext cx="12192000" cy="26074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  <p:pic>
        <p:nvPicPr>
          <p:cNvPr id="28" name="Content Placeholder 4">
            <a:extLst>
              <a:ext uri="{FF2B5EF4-FFF2-40B4-BE49-F238E27FC236}">
                <a16:creationId xmlns:a16="http://schemas.microsoft.com/office/drawing/2014/main" id="{DDDF0EA4-AE20-9CFD-81E4-78D2DCA691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92001" cy="4867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143228-84F9-1F9A-99B0-14C93683744E}"/>
              </a:ext>
            </a:extLst>
          </p:cNvPr>
          <p:cNvSpPr txBox="1">
            <a:spLocks/>
          </p:cNvSpPr>
          <p:nvPr/>
        </p:nvSpPr>
        <p:spPr>
          <a:xfrm>
            <a:off x="2279208" y="82078"/>
            <a:ext cx="76335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b-NO" sz="1600" b="1" dirty="0"/>
              <a:t>Riset Kolaborasi Indonesia (RKI) EQUITY 2025-2026</a:t>
            </a:r>
            <a:endParaRPr lang="en-ID" sz="1600" b="1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BC4F09A-70C4-8F99-A3F2-E25ACDCF5DD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00425" y="6634437"/>
            <a:ext cx="8372166" cy="223138"/>
            <a:chOff x="565357" y="6614773"/>
            <a:chExt cx="8372166" cy="22313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5D58EC2-2F10-2AE4-3333-1F0E9E3D9F9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84159" y="6614773"/>
              <a:ext cx="4053364" cy="2231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D" sz="850" dirty="0"/>
                <a:t>Kantor: Gedung CRCS ITB Lantai 6, Jl. Ganesha No. 10, Bandung, 40132, Indonesia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A78A31B-1912-6053-46FA-1AA9E62B7ADE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65357" y="6657709"/>
              <a:ext cx="4212796" cy="134417"/>
            </a:xfrm>
            <a:prstGeom prst="rect">
              <a:avLst/>
            </a:prstGeom>
          </p:spPr>
        </p:pic>
      </p:grpSp>
      <p:pic>
        <p:nvPicPr>
          <p:cNvPr id="15" name="Picture 14" descr="A blue and white logo with a white outline on it&#10;&#10;AI-generated content may be incorrect.">
            <a:extLst>
              <a:ext uri="{FF2B5EF4-FFF2-40B4-BE49-F238E27FC236}">
                <a16:creationId xmlns:a16="http://schemas.microsoft.com/office/drawing/2014/main" id="{EC8DF701-3FCA-D7E7-A6E8-26FCE4EB2E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250" y="33378"/>
            <a:ext cx="385452" cy="38560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2720D91-FFD9-2A0F-CC7A-D3963868B24A}"/>
              </a:ext>
            </a:extLst>
          </p:cNvPr>
          <p:cNvSpPr txBox="1">
            <a:spLocks/>
          </p:cNvSpPr>
          <p:nvPr/>
        </p:nvSpPr>
        <p:spPr>
          <a:xfrm>
            <a:off x="9207021" y="6607115"/>
            <a:ext cx="31631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D" sz="1100" b="1" i="1" dirty="0"/>
              <a:t>Meaningful Research, Impactful Innovation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5D375FC-1407-4B94-A2DB-BAF721BF41F7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53981" y="69604"/>
            <a:ext cx="1003769" cy="33855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17AB546-3B96-19F3-2932-F51DD9A16A4F}"/>
              </a:ext>
            </a:extLst>
          </p:cNvPr>
          <p:cNvSpPr>
            <a:spLocks noGrp="1"/>
          </p:cNvSpPr>
          <p:nvPr/>
        </p:nvSpPr>
        <p:spPr>
          <a:xfrm>
            <a:off x="2025014" y="1031256"/>
            <a:ext cx="8141969" cy="24171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5000" dirty="0" err="1"/>
              <a:t>Laporan</a:t>
            </a:r>
            <a:r>
              <a:rPr sz="5000" dirty="0"/>
              <a:t> </a:t>
            </a:r>
            <a:r>
              <a:rPr sz="5000" i="1" dirty="0"/>
              <a:t>Progress</a:t>
            </a:r>
          </a:p>
          <a:p>
            <a:r>
              <a:rPr sz="5000" dirty="0"/>
              <a:t>RKI EQUITY 2025–2026</a:t>
            </a:r>
            <a:endParaRPr lang="en-US" sz="5000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AADF4F3B-9724-A052-33F4-0E625D58AF8A}"/>
              </a:ext>
            </a:extLst>
          </p:cNvPr>
          <p:cNvSpPr>
            <a:spLocks noGrp="1"/>
          </p:cNvSpPr>
          <p:nvPr/>
        </p:nvSpPr>
        <p:spPr>
          <a:xfrm>
            <a:off x="2209798" y="4186268"/>
            <a:ext cx="8141970" cy="16404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i="1" dirty="0">
                <a:solidFill>
                  <a:schemeClr val="tx1"/>
                </a:solidFill>
              </a:rPr>
              <a:t>Progress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kegiatan</a:t>
            </a:r>
            <a:r>
              <a:rPr dirty="0">
                <a:solidFill>
                  <a:schemeClr val="tx1"/>
                </a:solidFill>
              </a:rPr>
              <a:t> dan </a:t>
            </a:r>
            <a:r>
              <a:rPr dirty="0" err="1">
                <a:solidFill>
                  <a:schemeClr val="tx1"/>
                </a:solidFill>
              </a:rPr>
              <a:t>penyerapan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anggaran</a:t>
            </a:r>
            <a:endParaRPr lang="en-US" dirty="0">
              <a:solidFill>
                <a:schemeClr val="tx1"/>
              </a:solidFill>
            </a:endParaRPr>
          </a:p>
          <a:p>
            <a:r>
              <a:rPr dirty="0" err="1">
                <a:solidFill>
                  <a:schemeClr val="tx1"/>
                </a:solidFill>
              </a:rPr>
              <a:t>Direktorat</a:t>
            </a:r>
            <a:r>
              <a:rPr dirty="0">
                <a:solidFill>
                  <a:schemeClr val="tx1"/>
                </a:solidFill>
              </a:rPr>
              <a:t> Riset dan </a:t>
            </a:r>
            <a:r>
              <a:rPr dirty="0" err="1">
                <a:solidFill>
                  <a:schemeClr val="tx1"/>
                </a:solidFill>
              </a:rPr>
              <a:t>Inovasi</a:t>
            </a:r>
            <a:r>
              <a:rPr dirty="0">
                <a:solidFill>
                  <a:schemeClr val="tx1"/>
                </a:solidFill>
              </a:rPr>
              <a:t> ITB</a:t>
            </a:r>
          </a:p>
        </p:txBody>
      </p:sp>
    </p:spTree>
    <p:extLst>
      <p:ext uri="{BB962C8B-B14F-4D97-AF65-F5344CB8AC3E}">
        <p14:creationId xmlns:p14="http://schemas.microsoft.com/office/powerpoint/2010/main" val="1736659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4D6F3-0DA8-82FD-3ABC-9ED8C270E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377903B-8CAF-EC58-0D83-1C848AE8AF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6614068"/>
            <a:ext cx="12192000" cy="26074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8" name="Content Placeholder 4">
            <a:extLst>
              <a:ext uri="{FF2B5EF4-FFF2-40B4-BE49-F238E27FC236}">
                <a16:creationId xmlns:a16="http://schemas.microsoft.com/office/drawing/2014/main" id="{2EED82C2-CC95-A998-BBF1-FE1F2A72FD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92001" cy="4867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6477656-980C-815A-C390-DE1B02811886}"/>
              </a:ext>
            </a:extLst>
          </p:cNvPr>
          <p:cNvSpPr txBox="1">
            <a:spLocks/>
          </p:cNvSpPr>
          <p:nvPr/>
        </p:nvSpPr>
        <p:spPr>
          <a:xfrm>
            <a:off x="2279208" y="82078"/>
            <a:ext cx="76335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b-NO" sz="1600" b="1" dirty="0">
                <a:solidFill>
                  <a:schemeClr val="bg1"/>
                </a:solidFill>
              </a:rPr>
              <a:t>Riset Kolaborasi Indonesia (RKI) EQUITY 2025-2026</a:t>
            </a:r>
            <a:endParaRPr lang="en-ID" sz="1600" b="1" dirty="0">
              <a:solidFill>
                <a:schemeClr val="bg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685DF4C-445B-F893-93B8-8E6DABC4E8E1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00425" y="6634437"/>
            <a:ext cx="8372166" cy="223138"/>
            <a:chOff x="565357" y="6614773"/>
            <a:chExt cx="8372166" cy="22313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8881665-F7E2-24AE-A51F-410D47EA537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84159" y="6614773"/>
              <a:ext cx="4053364" cy="2231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D" sz="850" dirty="0">
                  <a:solidFill>
                    <a:schemeClr val="bg1"/>
                  </a:solidFill>
                </a:rPr>
                <a:t>Kantor: Gedung CRCS ITB Lantai 6, Jl. Ganesha No. 10, Bandung, 40132, Indonesia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1FD8D9F-F28E-7FBA-EC59-F6395F536B32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65357" y="6657709"/>
              <a:ext cx="4212796" cy="134417"/>
            </a:xfrm>
            <a:prstGeom prst="rect">
              <a:avLst/>
            </a:prstGeom>
          </p:spPr>
        </p:pic>
      </p:grpSp>
      <p:pic>
        <p:nvPicPr>
          <p:cNvPr id="15" name="Picture 14" descr="A blue and white logo with a white outline on it&#10;&#10;AI-generated content may be incorrect.">
            <a:extLst>
              <a:ext uri="{FF2B5EF4-FFF2-40B4-BE49-F238E27FC236}">
                <a16:creationId xmlns:a16="http://schemas.microsoft.com/office/drawing/2014/main" id="{901DE238-7B5A-7017-3D4A-75CBB343E0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250" y="33378"/>
            <a:ext cx="385452" cy="38560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8A6E9B4-251D-5FB8-2E80-E6C6180B8C3B}"/>
              </a:ext>
            </a:extLst>
          </p:cNvPr>
          <p:cNvSpPr txBox="1">
            <a:spLocks/>
          </p:cNvSpPr>
          <p:nvPr/>
        </p:nvSpPr>
        <p:spPr>
          <a:xfrm>
            <a:off x="9207021" y="6607115"/>
            <a:ext cx="31631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D" sz="1100" b="1" i="1" dirty="0">
                <a:solidFill>
                  <a:schemeClr val="bg1"/>
                </a:solidFill>
              </a:rPr>
              <a:t>Meaningful Research, Impactful Innovation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977B8A0-6C1E-1194-8D44-5791B2AFF1AB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53981" y="69604"/>
            <a:ext cx="1003769" cy="33855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33924AF-BBAB-0746-D75C-73201CA6B0F7}"/>
              </a:ext>
            </a:extLst>
          </p:cNvPr>
          <p:cNvSpPr>
            <a:spLocks noGrp="1"/>
          </p:cNvSpPr>
          <p:nvPr/>
        </p:nvSpPr>
        <p:spPr>
          <a:xfrm>
            <a:off x="1981199" y="74619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dirty="0" err="1"/>
              <a:t>Identitas</a:t>
            </a:r>
            <a:r>
              <a:rPr dirty="0"/>
              <a:t> </a:t>
            </a:r>
            <a:r>
              <a:rPr dirty="0" err="1"/>
              <a:t>Penelitian</a:t>
            </a:r>
            <a:endParaRPr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633C64D-2189-7110-9625-01937B581D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8041155"/>
              </p:ext>
            </p:extLst>
          </p:nvPr>
        </p:nvGraphicFramePr>
        <p:xfrm>
          <a:off x="754380" y="1952501"/>
          <a:ext cx="10927080" cy="36880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589020">
                  <a:extLst>
                    <a:ext uri="{9D8B030D-6E8A-4147-A177-3AD203B41FA5}">
                      <a16:colId xmlns:a16="http://schemas.microsoft.com/office/drawing/2014/main" val="596377364"/>
                    </a:ext>
                  </a:extLst>
                </a:gridCol>
                <a:gridCol w="7338060">
                  <a:extLst>
                    <a:ext uri="{9D8B030D-6E8A-4147-A177-3AD203B41FA5}">
                      <a16:colId xmlns:a16="http://schemas.microsoft.com/office/drawing/2014/main" val="24698878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500" dirty="0" err="1"/>
                        <a:t>Uraian</a:t>
                      </a:r>
                      <a:endParaRPr lang="en-ID" sz="2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500" dirty="0" err="1"/>
                        <a:t>Keterangan</a:t>
                      </a:r>
                      <a:endParaRPr lang="en-ID" sz="2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3357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500" dirty="0"/>
                        <a:t>Skema</a:t>
                      </a:r>
                      <a:endParaRPr lang="en-ID" sz="2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2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686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500" dirty="0"/>
                        <a:t>Nama </a:t>
                      </a:r>
                      <a:r>
                        <a:rPr lang="en-US" sz="2500" dirty="0" err="1"/>
                        <a:t>Ketua</a:t>
                      </a:r>
                      <a:r>
                        <a:rPr lang="en-US" sz="2500" dirty="0"/>
                        <a:t> </a:t>
                      </a:r>
                      <a:r>
                        <a:rPr lang="en-US" sz="2500" dirty="0" err="1"/>
                        <a:t>Peneliti</a:t>
                      </a:r>
                      <a:endParaRPr lang="en-ID" sz="2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2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6396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500" dirty="0" err="1"/>
                        <a:t>Judul</a:t>
                      </a:r>
                      <a:r>
                        <a:rPr lang="en-US" sz="2500" dirty="0"/>
                        <a:t> </a:t>
                      </a:r>
                      <a:r>
                        <a:rPr lang="en-US" sz="2500" dirty="0" err="1"/>
                        <a:t>Penelitian</a:t>
                      </a:r>
                      <a:endParaRPr lang="en-ID" sz="2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25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9309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500" dirty="0" err="1"/>
                        <a:t>Periode</a:t>
                      </a:r>
                      <a:r>
                        <a:rPr lang="en-US" sz="2500" dirty="0"/>
                        <a:t> </a:t>
                      </a:r>
                      <a:r>
                        <a:rPr lang="en-US" sz="2500" dirty="0" err="1"/>
                        <a:t>Pelaporan</a:t>
                      </a:r>
                      <a:endParaRPr lang="en-ID" sz="2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500" dirty="0" err="1"/>
                        <a:t>Contoh</a:t>
                      </a:r>
                      <a:r>
                        <a:rPr lang="en-US" sz="2500" dirty="0"/>
                        <a:t>: Maret 2026</a:t>
                      </a:r>
                      <a:endParaRPr lang="en-ID" sz="2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1529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500" dirty="0" err="1"/>
                        <a:t>Tanggal</a:t>
                      </a:r>
                      <a:r>
                        <a:rPr lang="en-US" sz="2500" dirty="0"/>
                        <a:t> </a:t>
                      </a:r>
                      <a:r>
                        <a:rPr lang="en-US" sz="2500" dirty="0" err="1"/>
                        <a:t>Laporan</a:t>
                      </a:r>
                      <a:endParaRPr lang="en-ID" sz="2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500" dirty="0" err="1"/>
                        <a:t>Tanggal</a:t>
                      </a:r>
                      <a:r>
                        <a:rPr lang="en-US" sz="2500" dirty="0"/>
                        <a:t> </a:t>
                      </a:r>
                      <a:r>
                        <a:rPr lang="en-US" sz="2500" dirty="0" err="1"/>
                        <a:t>penyampaian</a:t>
                      </a:r>
                      <a:r>
                        <a:rPr lang="en-US" sz="2500" dirty="0"/>
                        <a:t> </a:t>
                      </a:r>
                      <a:r>
                        <a:rPr lang="en-US" sz="2500" dirty="0" err="1"/>
                        <a:t>laporan</a:t>
                      </a:r>
                      <a:r>
                        <a:rPr lang="en-US" sz="2500" dirty="0"/>
                        <a:t>, contoh:17 Maret 2026</a:t>
                      </a:r>
                      <a:endParaRPr lang="en-ID" sz="2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711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500" dirty="0"/>
                        <a:t>Nilai </a:t>
                      </a:r>
                      <a:r>
                        <a:rPr lang="en-US" sz="2500" dirty="0" err="1"/>
                        <a:t>Pendanaan</a:t>
                      </a:r>
                      <a:r>
                        <a:rPr lang="en-US" sz="2500" dirty="0"/>
                        <a:t> (Rp)</a:t>
                      </a:r>
                      <a:endParaRPr lang="en-ID" sz="2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2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3391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4485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466A1-C9F9-6BE1-0593-B7AF0A185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3E541A3-F496-C967-0133-D694798260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6614068"/>
            <a:ext cx="12192000" cy="26074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8" name="Content Placeholder 4">
            <a:extLst>
              <a:ext uri="{FF2B5EF4-FFF2-40B4-BE49-F238E27FC236}">
                <a16:creationId xmlns:a16="http://schemas.microsoft.com/office/drawing/2014/main" id="{DBA39524-C9BA-84AA-6FC6-FAB0666F0C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92001" cy="4867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63E596-9128-12EB-62B8-40FBF85C79B8}"/>
              </a:ext>
            </a:extLst>
          </p:cNvPr>
          <p:cNvSpPr txBox="1">
            <a:spLocks/>
          </p:cNvSpPr>
          <p:nvPr/>
        </p:nvSpPr>
        <p:spPr>
          <a:xfrm>
            <a:off x="2279208" y="82078"/>
            <a:ext cx="76335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b-NO" sz="1600" b="1" dirty="0">
                <a:solidFill>
                  <a:schemeClr val="bg1"/>
                </a:solidFill>
              </a:rPr>
              <a:t>Riset Kolaborasi Indonesia (RKI) EQUITY 2025-2026</a:t>
            </a:r>
            <a:endParaRPr lang="en-ID" sz="1600" b="1" dirty="0">
              <a:solidFill>
                <a:schemeClr val="bg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4387832-97B7-A126-0869-AB78B0B3781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00425" y="6634437"/>
            <a:ext cx="8372166" cy="223138"/>
            <a:chOff x="565357" y="6614773"/>
            <a:chExt cx="8372166" cy="22313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64AD379-37AD-EAC5-84B8-4FBE044FAF6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84159" y="6614773"/>
              <a:ext cx="4053364" cy="2231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D" sz="850" dirty="0">
                  <a:solidFill>
                    <a:schemeClr val="bg1"/>
                  </a:solidFill>
                </a:rPr>
                <a:t>Kantor: Gedung CRCS ITB Lantai 6, Jl. Ganesha No. 10, Bandung, 40132, Indonesia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D7FAD8D-7145-CEB5-BFB8-1E463613E2F5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65357" y="6657709"/>
              <a:ext cx="4212796" cy="134417"/>
            </a:xfrm>
            <a:prstGeom prst="rect">
              <a:avLst/>
            </a:prstGeom>
          </p:spPr>
        </p:pic>
      </p:grpSp>
      <p:pic>
        <p:nvPicPr>
          <p:cNvPr id="15" name="Picture 14" descr="A blue and white logo with a white outline on it&#10;&#10;AI-generated content may be incorrect.">
            <a:extLst>
              <a:ext uri="{FF2B5EF4-FFF2-40B4-BE49-F238E27FC236}">
                <a16:creationId xmlns:a16="http://schemas.microsoft.com/office/drawing/2014/main" id="{F1301E23-D5BA-029D-4D01-F8B67290E6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250" y="33378"/>
            <a:ext cx="385452" cy="38560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39E0F9C-4AC7-9589-14FC-1925B23E9A40}"/>
              </a:ext>
            </a:extLst>
          </p:cNvPr>
          <p:cNvSpPr txBox="1">
            <a:spLocks/>
          </p:cNvSpPr>
          <p:nvPr/>
        </p:nvSpPr>
        <p:spPr>
          <a:xfrm>
            <a:off x="9207021" y="6607115"/>
            <a:ext cx="31631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D" sz="1100" b="1" i="1" dirty="0">
                <a:solidFill>
                  <a:schemeClr val="bg1"/>
                </a:solidFill>
              </a:rPr>
              <a:t>Meaningful Research, Impactful Innovation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D058B74-6C54-29C4-16A3-57BB43F1C06E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53981" y="69604"/>
            <a:ext cx="1003769" cy="33855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2AE60DB-D5DF-1B25-D8FD-2001AE721E43}"/>
              </a:ext>
            </a:extLst>
          </p:cNvPr>
          <p:cNvSpPr>
            <a:spLocks noGrp="1"/>
          </p:cNvSpPr>
          <p:nvPr/>
        </p:nvSpPr>
        <p:spPr>
          <a:xfrm>
            <a:off x="1981199" y="74619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i="1" dirty="0"/>
              <a:t>Progress </a:t>
            </a:r>
            <a:r>
              <a:rPr lang="en-US" dirty="0" err="1"/>
              <a:t>Kegiatan</a:t>
            </a:r>
            <a:endParaRPr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1193718-6F47-DD96-864F-A5AA2A74D3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0658019"/>
              </p:ext>
            </p:extLst>
          </p:nvPr>
        </p:nvGraphicFramePr>
        <p:xfrm>
          <a:off x="754380" y="1952500"/>
          <a:ext cx="10927080" cy="299668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185416">
                  <a:extLst>
                    <a:ext uri="{9D8B030D-6E8A-4147-A177-3AD203B41FA5}">
                      <a16:colId xmlns:a16="http://schemas.microsoft.com/office/drawing/2014/main" val="2570644766"/>
                    </a:ext>
                  </a:extLst>
                </a:gridCol>
                <a:gridCol w="2185416">
                  <a:extLst>
                    <a:ext uri="{9D8B030D-6E8A-4147-A177-3AD203B41FA5}">
                      <a16:colId xmlns:a16="http://schemas.microsoft.com/office/drawing/2014/main" val="2183912326"/>
                    </a:ext>
                  </a:extLst>
                </a:gridCol>
                <a:gridCol w="2185416">
                  <a:extLst>
                    <a:ext uri="{9D8B030D-6E8A-4147-A177-3AD203B41FA5}">
                      <a16:colId xmlns:a16="http://schemas.microsoft.com/office/drawing/2014/main" val="1617361001"/>
                    </a:ext>
                  </a:extLst>
                </a:gridCol>
                <a:gridCol w="2185416">
                  <a:extLst>
                    <a:ext uri="{9D8B030D-6E8A-4147-A177-3AD203B41FA5}">
                      <a16:colId xmlns:a16="http://schemas.microsoft.com/office/drawing/2014/main" val="2044191047"/>
                    </a:ext>
                  </a:extLst>
                </a:gridCol>
                <a:gridCol w="2185416">
                  <a:extLst>
                    <a:ext uri="{9D8B030D-6E8A-4147-A177-3AD203B41FA5}">
                      <a16:colId xmlns:a16="http://schemas.microsoft.com/office/drawing/2014/main" val="3237450893"/>
                    </a:ext>
                  </a:extLst>
                </a:gridCol>
              </a:tblGrid>
              <a:tr h="749172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Aktivitas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Target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Realisasi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Status (%)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Catatan</a:t>
                      </a:r>
                      <a:endParaRPr lang="en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377754"/>
                  </a:ext>
                </a:extLst>
              </a:tr>
              <a:tr h="749172">
                <a:tc>
                  <a:txBody>
                    <a:bodyPr/>
                    <a:lstStyle/>
                    <a:p>
                      <a:r>
                        <a:rPr lang="en-US" dirty="0"/>
                        <a:t> </a:t>
                      </a:r>
                      <a:r>
                        <a:rPr lang="en-US" dirty="0" err="1"/>
                        <a:t>Aktivitas</a:t>
                      </a:r>
                      <a:r>
                        <a:rPr lang="en-US" dirty="0"/>
                        <a:t> 1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600673"/>
                  </a:ext>
                </a:extLst>
              </a:tr>
              <a:tr h="749172">
                <a:tc>
                  <a:txBody>
                    <a:bodyPr/>
                    <a:lstStyle/>
                    <a:p>
                      <a:r>
                        <a:rPr lang="en-US" dirty="0" err="1"/>
                        <a:t>Aktivitas</a:t>
                      </a:r>
                      <a:r>
                        <a:rPr lang="en-US" dirty="0"/>
                        <a:t> 2 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7277443"/>
                  </a:ext>
                </a:extLst>
              </a:tr>
              <a:tr h="749172">
                <a:tc>
                  <a:txBody>
                    <a:bodyPr/>
                    <a:lstStyle/>
                    <a:p>
                      <a:r>
                        <a:rPr lang="en-US" dirty="0" err="1"/>
                        <a:t>Dst</a:t>
                      </a:r>
                      <a:r>
                        <a:rPr lang="en-US" dirty="0"/>
                        <a:t>.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312970"/>
                  </a:ext>
                </a:extLst>
              </a:tr>
            </a:tbl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E8CAB3EA-9757-EB84-CB78-732646CEC5E3}"/>
              </a:ext>
            </a:extLst>
          </p:cNvPr>
          <p:cNvSpPr>
            <a:spLocks noGrp="1"/>
          </p:cNvSpPr>
          <p:nvPr/>
        </p:nvSpPr>
        <p:spPr>
          <a:xfrm>
            <a:off x="754380" y="5392130"/>
            <a:ext cx="8229600" cy="7196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dirty="0" err="1"/>
              <a:t>Keterangan</a:t>
            </a:r>
            <a:r>
              <a:rPr lang="en-US" sz="1800" dirty="0"/>
              <a:t>:</a:t>
            </a:r>
          </a:p>
          <a:p>
            <a:pPr algn="l"/>
            <a:r>
              <a:rPr lang="en-ID" sz="1800" dirty="0">
                <a:solidFill>
                  <a:srgbClr val="0070C0"/>
                </a:solidFill>
              </a:rPr>
              <a:t>Progress </a:t>
            </a:r>
            <a:r>
              <a:rPr lang="en-ID" sz="1800" dirty="0" err="1">
                <a:solidFill>
                  <a:srgbClr val="0070C0"/>
                </a:solidFill>
              </a:rPr>
              <a:t>kegiatan</a:t>
            </a:r>
            <a:r>
              <a:rPr lang="en-ID" sz="1800" dirty="0">
                <a:solidFill>
                  <a:srgbClr val="0070C0"/>
                </a:solidFill>
              </a:rPr>
              <a:t> </a:t>
            </a:r>
            <a:r>
              <a:rPr lang="en-ID" sz="1800" dirty="0" err="1">
                <a:solidFill>
                  <a:srgbClr val="0070C0"/>
                </a:solidFill>
              </a:rPr>
              <a:t>dapat</a:t>
            </a:r>
            <a:r>
              <a:rPr lang="en-ID" sz="1800" dirty="0">
                <a:solidFill>
                  <a:srgbClr val="0070C0"/>
                </a:solidFill>
              </a:rPr>
              <a:t> </a:t>
            </a:r>
            <a:r>
              <a:rPr lang="en-ID" sz="1800" dirty="0" err="1">
                <a:solidFill>
                  <a:srgbClr val="0070C0"/>
                </a:solidFill>
              </a:rPr>
              <a:t>disampaikan</a:t>
            </a:r>
            <a:r>
              <a:rPr lang="en-ID" sz="1800" dirty="0">
                <a:solidFill>
                  <a:srgbClr val="0070C0"/>
                </a:solidFill>
              </a:rPr>
              <a:t> </a:t>
            </a:r>
            <a:r>
              <a:rPr lang="en-ID" sz="1800" dirty="0" err="1">
                <a:solidFill>
                  <a:srgbClr val="0070C0"/>
                </a:solidFill>
              </a:rPr>
              <a:t>secara</a:t>
            </a:r>
            <a:r>
              <a:rPr lang="en-ID" sz="1800" dirty="0">
                <a:solidFill>
                  <a:srgbClr val="0070C0"/>
                </a:solidFill>
              </a:rPr>
              <a:t> </a:t>
            </a:r>
            <a:r>
              <a:rPr lang="en-ID" sz="1800" dirty="0" err="1">
                <a:solidFill>
                  <a:srgbClr val="0070C0"/>
                </a:solidFill>
              </a:rPr>
              <a:t>rinci</a:t>
            </a:r>
            <a:r>
              <a:rPr lang="en-ID" sz="1800" dirty="0">
                <a:solidFill>
                  <a:srgbClr val="0070C0"/>
                </a:solidFill>
              </a:rPr>
              <a:t> per </a:t>
            </a:r>
            <a:r>
              <a:rPr lang="en-ID" sz="1800" dirty="0" err="1">
                <a:solidFill>
                  <a:srgbClr val="0070C0"/>
                </a:solidFill>
              </a:rPr>
              <a:t>aktivitas</a:t>
            </a:r>
            <a:r>
              <a:rPr lang="en-ID" sz="1800" dirty="0">
                <a:solidFill>
                  <a:srgbClr val="0070C0"/>
                </a:solidFill>
              </a:rPr>
              <a:t> </a:t>
            </a:r>
            <a:r>
              <a:rPr lang="en-ID" sz="1800" dirty="0" err="1">
                <a:solidFill>
                  <a:srgbClr val="0070C0"/>
                </a:solidFill>
              </a:rPr>
              <a:t>atau</a:t>
            </a:r>
            <a:r>
              <a:rPr lang="en-ID" sz="1800" dirty="0">
                <a:solidFill>
                  <a:srgbClr val="0070C0"/>
                </a:solidFill>
              </a:rPr>
              <a:t> </a:t>
            </a:r>
            <a:r>
              <a:rPr lang="en-ID" sz="1800" dirty="0" err="1">
                <a:solidFill>
                  <a:srgbClr val="0070C0"/>
                </a:solidFill>
              </a:rPr>
              <a:t>secara</a:t>
            </a:r>
            <a:r>
              <a:rPr lang="en-ID" sz="1800" dirty="0">
                <a:solidFill>
                  <a:srgbClr val="0070C0"/>
                </a:solidFill>
              </a:rPr>
              <a:t> global/</a:t>
            </a:r>
            <a:r>
              <a:rPr lang="en-ID" sz="1800" dirty="0" err="1">
                <a:solidFill>
                  <a:srgbClr val="0070C0"/>
                </a:solidFill>
              </a:rPr>
              <a:t>ringkas</a:t>
            </a:r>
            <a:r>
              <a:rPr lang="en-ID" sz="1800" dirty="0">
                <a:solidFill>
                  <a:srgbClr val="0070C0"/>
                </a:solidFill>
              </a:rPr>
              <a:t>.</a:t>
            </a:r>
            <a:endParaRPr sz="1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0449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4DCA2-1C52-C6B2-9A06-E931372AC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CF1DD1A-3F02-3D51-E171-6A2CB0ACFC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6614068"/>
            <a:ext cx="12192000" cy="26074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8" name="Content Placeholder 4">
            <a:extLst>
              <a:ext uri="{FF2B5EF4-FFF2-40B4-BE49-F238E27FC236}">
                <a16:creationId xmlns:a16="http://schemas.microsoft.com/office/drawing/2014/main" id="{850ABA88-0A5D-A012-FEE4-D16D886D63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92001" cy="4867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87B03F0-738D-CFB5-F586-59719C865E2C}"/>
              </a:ext>
            </a:extLst>
          </p:cNvPr>
          <p:cNvSpPr txBox="1">
            <a:spLocks/>
          </p:cNvSpPr>
          <p:nvPr/>
        </p:nvSpPr>
        <p:spPr>
          <a:xfrm>
            <a:off x="2279208" y="82078"/>
            <a:ext cx="76335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b-NO" sz="1600" b="1" dirty="0">
                <a:solidFill>
                  <a:schemeClr val="bg1"/>
                </a:solidFill>
              </a:rPr>
              <a:t>Riset Kolaborasi Indonesia (RKI) EQUITY 2025-2026</a:t>
            </a:r>
            <a:endParaRPr lang="en-ID" sz="1600" b="1" dirty="0">
              <a:solidFill>
                <a:schemeClr val="bg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B2328B2-21CF-EF55-E78F-7AE7F9ACE76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00425" y="6634437"/>
            <a:ext cx="8372166" cy="223138"/>
            <a:chOff x="565357" y="6614773"/>
            <a:chExt cx="8372166" cy="22313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BD9D271-E29C-2CE1-B118-F2F24AF5768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84159" y="6614773"/>
              <a:ext cx="4053364" cy="2231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D" sz="850" dirty="0">
                  <a:solidFill>
                    <a:schemeClr val="bg1"/>
                  </a:solidFill>
                </a:rPr>
                <a:t>Kantor: Gedung CRCS ITB Lantai 6, Jl. Ganesha No. 10, Bandung, 40132, Indonesia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7ED7087-1505-7C62-1DFD-AC44CCF04FD9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65357" y="6657709"/>
              <a:ext cx="4212796" cy="134417"/>
            </a:xfrm>
            <a:prstGeom prst="rect">
              <a:avLst/>
            </a:prstGeom>
          </p:spPr>
        </p:pic>
      </p:grpSp>
      <p:pic>
        <p:nvPicPr>
          <p:cNvPr id="15" name="Picture 14" descr="A blue and white logo with a white outline on it&#10;&#10;AI-generated content may be incorrect.">
            <a:extLst>
              <a:ext uri="{FF2B5EF4-FFF2-40B4-BE49-F238E27FC236}">
                <a16:creationId xmlns:a16="http://schemas.microsoft.com/office/drawing/2014/main" id="{238784F9-E9A9-9813-49C6-E8115C83F7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250" y="33378"/>
            <a:ext cx="385452" cy="38560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BA730D3-D8D8-1A16-A882-4DDBE35140EC}"/>
              </a:ext>
            </a:extLst>
          </p:cNvPr>
          <p:cNvSpPr txBox="1">
            <a:spLocks/>
          </p:cNvSpPr>
          <p:nvPr/>
        </p:nvSpPr>
        <p:spPr>
          <a:xfrm>
            <a:off x="9207021" y="6607115"/>
            <a:ext cx="31631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D" sz="1100" b="1" i="1" dirty="0">
                <a:solidFill>
                  <a:schemeClr val="bg1"/>
                </a:solidFill>
              </a:rPr>
              <a:t>Meaningful Research, Impactful Innovation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CAC6B93-D84A-D5AB-321F-906827CF4305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53981" y="69604"/>
            <a:ext cx="1003769" cy="33855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4FF3F05-F71E-1A72-D826-29ACCB6DCCA8}"/>
              </a:ext>
            </a:extLst>
          </p:cNvPr>
          <p:cNvSpPr>
            <a:spLocks noGrp="1"/>
          </p:cNvSpPr>
          <p:nvPr/>
        </p:nvSpPr>
        <p:spPr>
          <a:xfrm>
            <a:off x="1981199" y="74619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i="1" dirty="0"/>
              <a:t>Progress</a:t>
            </a:r>
            <a:r>
              <a:rPr lang="en-US" dirty="0"/>
              <a:t> </a:t>
            </a:r>
            <a:r>
              <a:rPr lang="en-US" dirty="0" err="1"/>
              <a:t>Penyerapan</a:t>
            </a:r>
            <a:r>
              <a:rPr lang="en-US" dirty="0"/>
              <a:t> </a:t>
            </a:r>
            <a:r>
              <a:rPr lang="en-US" dirty="0" err="1"/>
              <a:t>Anggaran</a:t>
            </a:r>
            <a:endParaRPr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296C4F4-A7DF-22BE-B4C6-773E3902B3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6171534"/>
              </p:ext>
            </p:extLst>
          </p:nvPr>
        </p:nvGraphicFramePr>
        <p:xfrm>
          <a:off x="754380" y="1952500"/>
          <a:ext cx="10515600" cy="1921256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57064476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8391232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17361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44191047"/>
                    </a:ext>
                  </a:extLst>
                </a:gridCol>
              </a:tblGrid>
              <a:tr h="960628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Pagu</a:t>
                      </a:r>
                      <a:r>
                        <a:rPr lang="en-US" dirty="0"/>
                        <a:t> (Rp)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Realiasi</a:t>
                      </a:r>
                      <a:r>
                        <a:rPr lang="en-US" dirty="0"/>
                        <a:t> (Rp)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Sisa (Rp)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Serapan (%)</a:t>
                      </a:r>
                      <a:endParaRPr lang="en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377754"/>
                  </a:ext>
                </a:extLst>
              </a:tr>
              <a:tr h="960628"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6006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9018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A2AF9-ABD9-E6E3-59F3-2F0B602D2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1989B7C-AFEF-4376-63B6-7BE6082FB7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6614068"/>
            <a:ext cx="12192000" cy="26074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8" name="Content Placeholder 4">
            <a:extLst>
              <a:ext uri="{FF2B5EF4-FFF2-40B4-BE49-F238E27FC236}">
                <a16:creationId xmlns:a16="http://schemas.microsoft.com/office/drawing/2014/main" id="{356D1594-21B4-1638-1DBC-8116EA2A09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92001" cy="4867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19E8115-7A3A-DF94-58D4-B307B5E9C2A7}"/>
              </a:ext>
            </a:extLst>
          </p:cNvPr>
          <p:cNvSpPr txBox="1">
            <a:spLocks/>
          </p:cNvSpPr>
          <p:nvPr/>
        </p:nvSpPr>
        <p:spPr>
          <a:xfrm>
            <a:off x="2279208" y="82078"/>
            <a:ext cx="76335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b-NO" sz="1600" b="1" dirty="0">
                <a:solidFill>
                  <a:schemeClr val="bg1"/>
                </a:solidFill>
              </a:rPr>
              <a:t>Riset Kolaborasi Indonesia (RKI) EQUITY 2025-2026</a:t>
            </a:r>
            <a:endParaRPr lang="en-ID" sz="1600" b="1" dirty="0">
              <a:solidFill>
                <a:schemeClr val="bg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A3C49BE-684A-45B8-71EE-EBB2F70E57A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00425" y="6634437"/>
            <a:ext cx="8372166" cy="223138"/>
            <a:chOff x="565357" y="6614773"/>
            <a:chExt cx="8372166" cy="22313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26D5E52-D28C-C676-0BD7-9AD4D1D86B1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84159" y="6614773"/>
              <a:ext cx="4053364" cy="2231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D" sz="850" dirty="0">
                  <a:solidFill>
                    <a:schemeClr val="bg1"/>
                  </a:solidFill>
                </a:rPr>
                <a:t>Kantor: Gedung CRCS ITB Lantai 6, Jl. Ganesha No. 10, Bandung, 40132, Indonesia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3B136B9-611F-7517-5365-1079CD26FA9B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65357" y="6657709"/>
              <a:ext cx="4212796" cy="134417"/>
            </a:xfrm>
            <a:prstGeom prst="rect">
              <a:avLst/>
            </a:prstGeom>
          </p:spPr>
        </p:pic>
      </p:grpSp>
      <p:pic>
        <p:nvPicPr>
          <p:cNvPr id="15" name="Picture 14" descr="A blue and white logo with a white outline on it&#10;&#10;AI-generated content may be incorrect.">
            <a:extLst>
              <a:ext uri="{FF2B5EF4-FFF2-40B4-BE49-F238E27FC236}">
                <a16:creationId xmlns:a16="http://schemas.microsoft.com/office/drawing/2014/main" id="{6F4BFA9E-A663-C68B-4614-67F19BC498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250" y="33378"/>
            <a:ext cx="385452" cy="38560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961C1FD-3339-D914-B326-BF9B98A387DF}"/>
              </a:ext>
            </a:extLst>
          </p:cNvPr>
          <p:cNvSpPr txBox="1">
            <a:spLocks/>
          </p:cNvSpPr>
          <p:nvPr/>
        </p:nvSpPr>
        <p:spPr>
          <a:xfrm>
            <a:off x="9207021" y="6607115"/>
            <a:ext cx="31631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D" sz="1100" b="1" i="1" dirty="0">
                <a:solidFill>
                  <a:schemeClr val="bg1"/>
                </a:solidFill>
              </a:rPr>
              <a:t>Meaningful Research, Impactful Innovation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A943547-F98B-F18D-2791-3A4B2D3E9340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53981" y="69604"/>
            <a:ext cx="1003769" cy="33855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A7164D9-AF4D-3C0F-D6EA-6B12E3BB43CC}"/>
              </a:ext>
            </a:extLst>
          </p:cNvPr>
          <p:cNvSpPr>
            <a:spLocks noGrp="1"/>
          </p:cNvSpPr>
          <p:nvPr/>
        </p:nvSpPr>
        <p:spPr>
          <a:xfrm>
            <a:off x="1981199" y="74619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Keterangan</a:t>
            </a:r>
            <a:r>
              <a:rPr lang="en-US" dirty="0"/>
              <a:t>/</a:t>
            </a:r>
            <a:r>
              <a:rPr lang="en-US" dirty="0" err="1"/>
              <a:t>Catatan</a:t>
            </a:r>
            <a:endParaRPr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26EF65D-4F14-3D5A-9F2F-0D675F9FE16B}"/>
              </a:ext>
            </a:extLst>
          </p:cNvPr>
          <p:cNvSpPr>
            <a:spLocks noGrp="1"/>
          </p:cNvSpPr>
          <p:nvPr/>
        </p:nvSpPr>
        <p:spPr>
          <a:xfrm>
            <a:off x="1981199" y="25371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dirty="0" err="1">
                <a:solidFill>
                  <a:schemeClr val="bg2">
                    <a:lumMod val="75000"/>
                  </a:schemeClr>
                </a:solidFill>
              </a:rPr>
              <a:t>Apabila</a:t>
            </a:r>
            <a:r>
              <a:rPr lang="en-ID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ID" dirty="0" err="1">
                <a:solidFill>
                  <a:schemeClr val="bg2">
                    <a:lumMod val="75000"/>
                  </a:schemeClr>
                </a:solidFill>
              </a:rPr>
              <a:t>terdapat</a:t>
            </a:r>
            <a:r>
              <a:rPr lang="en-ID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ID" dirty="0" err="1">
                <a:solidFill>
                  <a:schemeClr val="bg2">
                    <a:lumMod val="75000"/>
                  </a:schemeClr>
                </a:solidFill>
              </a:rPr>
              <a:t>informasi</a:t>
            </a:r>
            <a:r>
              <a:rPr lang="en-ID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ID" dirty="0" err="1">
                <a:solidFill>
                  <a:schemeClr val="bg2">
                    <a:lumMod val="75000"/>
                  </a:schemeClr>
                </a:solidFill>
              </a:rPr>
              <a:t>tambahan</a:t>
            </a:r>
            <a:r>
              <a:rPr lang="en-ID" dirty="0">
                <a:solidFill>
                  <a:schemeClr val="bg2">
                    <a:lumMod val="75000"/>
                  </a:schemeClr>
                </a:solidFill>
              </a:rPr>
              <a:t> yang </a:t>
            </a:r>
            <a:r>
              <a:rPr lang="en-ID" dirty="0" err="1">
                <a:solidFill>
                  <a:schemeClr val="bg2">
                    <a:lumMod val="75000"/>
                  </a:schemeClr>
                </a:solidFill>
              </a:rPr>
              <a:t>perlu</a:t>
            </a:r>
            <a:r>
              <a:rPr lang="en-ID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ID" dirty="0" err="1">
                <a:solidFill>
                  <a:schemeClr val="bg2">
                    <a:lumMod val="75000"/>
                  </a:schemeClr>
                </a:solidFill>
              </a:rPr>
              <a:t>disampaikan</a:t>
            </a:r>
            <a:r>
              <a:rPr lang="en-ID" dirty="0">
                <a:solidFill>
                  <a:schemeClr val="bg2">
                    <a:lumMod val="75000"/>
                  </a:schemeClr>
                </a:solidFill>
              </a:rPr>
              <a:t>, </a:t>
            </a:r>
            <a:r>
              <a:rPr lang="en-ID" dirty="0" err="1">
                <a:solidFill>
                  <a:schemeClr val="bg2">
                    <a:lumMod val="75000"/>
                  </a:schemeClr>
                </a:solidFill>
              </a:rPr>
              <a:t>Ketua</a:t>
            </a:r>
            <a:r>
              <a:rPr lang="en-ID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ID" dirty="0" err="1">
                <a:solidFill>
                  <a:schemeClr val="bg2">
                    <a:lumMod val="75000"/>
                  </a:schemeClr>
                </a:solidFill>
              </a:rPr>
              <a:t>Peneliti</a:t>
            </a:r>
            <a:r>
              <a:rPr lang="en-ID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ID" dirty="0" err="1">
                <a:solidFill>
                  <a:schemeClr val="bg2">
                    <a:lumMod val="75000"/>
                  </a:schemeClr>
                </a:solidFill>
              </a:rPr>
              <a:t>dapat</a:t>
            </a:r>
            <a:r>
              <a:rPr lang="en-ID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ID" dirty="0" err="1">
                <a:solidFill>
                  <a:schemeClr val="bg2">
                    <a:lumMod val="75000"/>
                  </a:schemeClr>
                </a:solidFill>
              </a:rPr>
              <a:t>menuliskannya</a:t>
            </a:r>
            <a:r>
              <a:rPr lang="en-ID" dirty="0">
                <a:solidFill>
                  <a:schemeClr val="bg2">
                    <a:lumMod val="75000"/>
                  </a:schemeClr>
                </a:solidFill>
              </a:rPr>
              <a:t> pada </a:t>
            </a:r>
            <a:r>
              <a:rPr lang="en-ID" dirty="0" err="1">
                <a:solidFill>
                  <a:schemeClr val="bg2">
                    <a:lumMod val="75000"/>
                  </a:schemeClr>
                </a:solidFill>
              </a:rPr>
              <a:t>bagian</a:t>
            </a:r>
            <a:r>
              <a:rPr lang="en-ID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ID" dirty="0" err="1">
                <a:solidFill>
                  <a:schemeClr val="bg2">
                    <a:lumMod val="75000"/>
                  </a:schemeClr>
                </a:solidFill>
              </a:rPr>
              <a:t>ini</a:t>
            </a:r>
            <a:r>
              <a:rPr lang="en-ID" dirty="0">
                <a:solidFill>
                  <a:schemeClr val="bg2">
                    <a:lumMod val="75000"/>
                  </a:schemeClr>
                </a:solidFill>
              </a:rPr>
              <a:t>.</a:t>
            </a:r>
            <a:endParaRPr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2162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EB22E84EB18424489BDA27C2A28B748" ma:contentTypeVersion="11" ma:contentTypeDescription="Create a new document." ma:contentTypeScope="" ma:versionID="d5410471292b801e3e3e85fcaf7da6c0">
  <xsd:schema xmlns:xsd="http://www.w3.org/2001/XMLSchema" xmlns:xs="http://www.w3.org/2001/XMLSchema" xmlns:p="http://schemas.microsoft.com/office/2006/metadata/properties" xmlns:ns2="3d1efcfb-9e7e-4830-a8ac-6edd5d27774a" xmlns:ns3="eb56072c-1cb2-45a8-8851-906914d4f003" targetNamespace="http://schemas.microsoft.com/office/2006/metadata/properties" ma:root="true" ma:fieldsID="1a6d81341c9851f15c85092ffcfcd8bb" ns2:_="" ns3:_="">
    <xsd:import namespace="3d1efcfb-9e7e-4830-a8ac-6edd5d27774a"/>
    <xsd:import namespace="eb56072c-1cb2-45a8-8851-906914d4f00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1efcfb-9e7e-4830-a8ac-6edd5d2777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18f57f67-4e9a-4485-b8e2-eec27c405d6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56072c-1cb2-45a8-8851-906914d4f003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195eb01-cd3b-4500-98ac-e571fc382bbd}" ma:internalName="TaxCatchAll" ma:showField="CatchAllData" ma:web="eb56072c-1cb2-45a8-8851-906914d4f00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b56072c-1cb2-45a8-8851-906914d4f003" xsi:nil="true"/>
    <lcf76f155ced4ddcb4097134ff3c332f xmlns="3d1efcfb-9e7e-4830-a8ac-6edd5d27774a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EB5E2E7-1495-4AC0-96E0-1D17203F4D3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3d1efcfb-9e7e-4830-a8ac-6edd5d27774a"/>
    <ds:schemaRef ds:uri="eb56072c-1cb2-45a8-8851-906914d4f003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2AD6843-326D-4588-AA92-49D5F549504B}">
  <ds:schemaRefs>
    <ds:schemaRef ds:uri="http://schemas.microsoft.com/office/2006/metadata/properties"/>
    <ds:schemaRef ds:uri="http://www.w3.org/2000/xmlns/"/>
    <ds:schemaRef ds:uri="eb56072c-1cb2-45a8-8851-906914d4f003"/>
    <ds:schemaRef ds:uri="http://www.w3.org/2001/XMLSchema-instance"/>
    <ds:schemaRef ds:uri="3d1efcfb-9e7e-4830-a8ac-6edd5d27774a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7379F60-D395-4810-A879-4AC649853EE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5298</TotalTime>
  <Words>284</Words>
  <Application>Microsoft Office PowerPoint</Application>
  <PresentationFormat>Widescreen</PresentationFormat>
  <Paragraphs>53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INFORMASI PROGRAM RISET, INOVASI DAN 3P  Direktorat Riset dan Inovasi ITB Tahun 2026</dc:title>
  <dc:creator>Suyanto, A.Md.</dc:creator>
  <cp:lastModifiedBy>lppm itb</cp:lastModifiedBy>
  <cp:revision>180</cp:revision>
  <dcterms:created xsi:type="dcterms:W3CDTF">2025-07-09T01:55:32Z</dcterms:created>
  <dcterms:modified xsi:type="dcterms:W3CDTF">2026-03-13T08:59:26Z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8b525e5-f3da-4501-8f1e-526b6769fc56_Enabled">
    <vt:lpwstr>true</vt:lpwstr>
  </property>
  <property fmtid="{D5CDD505-2E9C-101B-9397-08002B2CF9AE}" pid="3" name="MSIP_Label_38b525e5-f3da-4501-8f1e-526b6769fc56_SetDate">
    <vt:lpwstr>2025-07-09T01:55:55Z</vt:lpwstr>
  </property>
  <property fmtid="{D5CDD505-2E9C-101B-9397-08002B2CF9AE}" pid="4" name="MSIP_Label_38b525e5-f3da-4501-8f1e-526b6769fc56_Method">
    <vt:lpwstr>Standard</vt:lpwstr>
  </property>
  <property fmtid="{D5CDD505-2E9C-101B-9397-08002B2CF9AE}" pid="5" name="MSIP_Label_38b525e5-f3da-4501-8f1e-526b6769fc56_Name">
    <vt:lpwstr>defa4170-0d19-0005-0004-bc88714345d2</vt:lpwstr>
  </property>
  <property fmtid="{D5CDD505-2E9C-101B-9397-08002B2CF9AE}" pid="6" name="MSIP_Label_38b525e5-f3da-4501-8f1e-526b6769fc56_SiteId">
    <vt:lpwstr>db6e1183-4c65-405c-82ce-7cd53fa6e9dc</vt:lpwstr>
  </property>
  <property fmtid="{D5CDD505-2E9C-101B-9397-08002B2CF9AE}" pid="7" name="MSIP_Label_38b525e5-f3da-4501-8f1e-526b6769fc56_ActionId">
    <vt:lpwstr>2020605f-0cb5-4d62-bbac-88b0c9c921ee</vt:lpwstr>
  </property>
  <property fmtid="{D5CDD505-2E9C-101B-9397-08002B2CF9AE}" pid="8" name="MSIP_Label_38b525e5-f3da-4501-8f1e-526b6769fc56_ContentBits">
    <vt:lpwstr>0</vt:lpwstr>
  </property>
  <property fmtid="{D5CDD505-2E9C-101B-9397-08002B2CF9AE}" pid="9" name="MSIP_Label_38b525e5-f3da-4501-8f1e-526b6769fc56_Tag">
    <vt:lpwstr>10, 3, 0, 1</vt:lpwstr>
  </property>
  <property fmtid="{D5CDD505-2E9C-101B-9397-08002B2CF9AE}" pid="10" name="ContentTypeId">
    <vt:lpwstr>0x0101003EB22E84EB18424489BDA27C2A28B748</vt:lpwstr>
  </property>
  <property fmtid="{D5CDD505-2E9C-101B-9397-08002B2CF9AE}" pid="11" name="MediaServiceImageTags">
    <vt:lpwstr/>
  </property>
</Properties>
</file>