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ID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ID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737EA40-75AA-4C6F-8B35-CBD5864F3B56}" type="slidenum"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8F74E4-617E-495A-8095-81A84845E215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8036F7-800B-4C27-94BF-E1CCA4DFFAEC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74E2F1-C4E1-4C18-AB19-30751194EA78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7F3700-C5A0-4C12-9068-BBD6F559DB93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D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D2AB4D-8AB4-4C6E-8CA7-9F1AA84A057B}" type="slidenum">
              <a:rPr lang="en-ID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6FFFF6-7A39-4E93-94BE-A4C56881C5A9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341942-4C94-41A6-8E3B-5A6C7DB0B701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6E9071-864C-4604-93F0-746756AE4C20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A71D4C-363E-4B5B-A69E-E2638F4BBE2E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17EA9B-11C7-4A35-B193-ED69ACF47108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AFCE88-229F-4D7A-AE65-21DB2DA1CB74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760465-AD21-4BFE-BDDB-4B0D9708D691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ADB22C-3D33-4DD1-A86A-A941C5A886D3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79BB3E-FAE9-4CDD-AA69-DA372E141244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43954F-CFF5-4506-B5FE-F57510BE36FA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D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B202B0-82EF-4529-81AA-70B3E00B96DD}" type="slidenum">
              <a:rPr lang="en-ID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D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7"/>
          <p:cNvSpPr/>
          <p:nvPr/>
        </p:nvSpPr>
        <p:spPr>
          <a:xfrm>
            <a:off x="0" y="6613920"/>
            <a:ext cx="12191760" cy="260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ID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67" name="Content Placeholder 4"/>
          <p:cNvPicPr/>
          <p:nvPr/>
        </p:nvPicPr>
        <p:blipFill>
          <a:blip r:embed="rId1"/>
          <a:stretch/>
        </p:blipFill>
        <p:spPr>
          <a:xfrm>
            <a:off x="0" y="0"/>
            <a:ext cx="12191760" cy="4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6"/>
          <p:cNvSpPr/>
          <p:nvPr/>
        </p:nvSpPr>
        <p:spPr>
          <a:xfrm>
            <a:off x="2279160" y="82080"/>
            <a:ext cx="7633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nb-NO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Riset Kolaborasi Indonesia (RKI) EQUITY 2025-2026</a:t>
            </a:r>
            <a:endParaRPr lang="en-I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1"/>
          <p:cNvGrpSpPr/>
          <p:nvPr/>
        </p:nvGrpSpPr>
        <p:grpSpPr>
          <a:xfrm>
            <a:off x="300600" y="6634440"/>
            <a:ext cx="8371440" cy="222840"/>
            <a:chOff x="300600" y="6634440"/>
            <a:chExt cx="8371440" cy="222840"/>
          </a:xfrm>
        </p:grpSpPr>
        <p:sp>
          <p:nvSpPr>
            <p:cNvPr id="70" name="TextBox 2"/>
            <p:cNvSpPr/>
            <p:nvPr/>
          </p:nvSpPr>
          <p:spPr>
            <a:xfrm>
              <a:off x="4619160" y="6634440"/>
              <a:ext cx="4052880" cy="22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ID" sz="850" b="0" u="none" strike="noStrike">
                  <a:solidFill>
                    <a:schemeClr val="dk1"/>
                  </a:solidFill>
                  <a:effectLst/>
                  <a:uFillTx/>
                  <a:latin typeface="Aptos"/>
                </a:rPr>
                <a:t>Kantor: Gedung CRCS ITB Lantai 6, Jl. Ganesha No. 10, Bandung, 40132, Indonesia</a:t>
              </a:r>
              <a:endParaRPr lang="en-ID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1" name="Picture 3"/>
            <p:cNvPicPr/>
            <p:nvPr/>
          </p:nvPicPr>
          <p:blipFill>
            <a:blip r:embed="rId2"/>
            <a:stretch/>
          </p:blipFill>
          <p:spPr>
            <a:xfrm>
              <a:off x="300600" y="6677280"/>
              <a:ext cx="4212360" cy="133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2" name="Picture 14" descr="A blue and white logo with a white outline on it&#10;&#10;AI-generated content may be incorrect."/>
          <p:cNvPicPr/>
          <p:nvPr/>
        </p:nvPicPr>
        <p:blipFill>
          <a:blip r:embed="rId3"/>
          <a:stretch/>
        </p:blipFill>
        <p:spPr>
          <a:xfrm>
            <a:off x="234360" y="33480"/>
            <a:ext cx="385200" cy="3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16"/>
          <p:cNvSpPr/>
          <p:nvPr/>
        </p:nvSpPr>
        <p:spPr>
          <a:xfrm>
            <a:off x="9207000" y="6607080"/>
            <a:ext cx="31626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D" sz="11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Meaningful Research, </a:t>
            </a:r>
            <a:r>
              <a:rPr lang="en-ID" sz="11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Impactful Innovation</a:t>
            </a:r>
            <a:endParaRPr lang="en-I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11"/>
          <p:cNvPicPr/>
          <p:nvPr/>
        </p:nvPicPr>
        <p:blipFill>
          <a:blip r:embed="rId4"/>
          <a:stretch/>
        </p:blipFill>
        <p:spPr>
          <a:xfrm>
            <a:off x="10954080" y="69480"/>
            <a:ext cx="100332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itle 1"/>
          <p:cNvSpPr/>
          <p:nvPr/>
        </p:nvSpPr>
        <p:spPr>
          <a:xfrm>
            <a:off x="2025000" y="1031400"/>
            <a:ext cx="8141760" cy="24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Lapor</a:t>
            </a: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an </a:t>
            </a:r>
            <a:r>
              <a:rPr lang="en-US" sz="5000" b="0" i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Progre</a:t>
            </a:r>
            <a:r>
              <a:rPr lang="en-US" sz="5000" b="0" i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ss</a:t>
            </a:r>
            <a:endParaRPr lang="en-ID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RKI </a:t>
            </a: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EQUIT</a:t>
            </a: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 </a:t>
            </a: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2025–</a:t>
            </a: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2026</a:t>
            </a:r>
            <a:endParaRPr lang="en-ID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ubtitle 2"/>
          <p:cNvSpPr/>
          <p:nvPr/>
        </p:nvSpPr>
        <p:spPr>
          <a:xfrm>
            <a:off x="2209680" y="4186440"/>
            <a:ext cx="8141760" cy="16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Progress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kegiatan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dan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penyerap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anggaran</a:t>
            </a:r>
            <a:endParaRPr lang="en-ID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Direktora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 Riset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dan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Inovasi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ITB</a:t>
            </a:r>
            <a:endParaRPr lang="en-ID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7"/>
          <p:cNvSpPr/>
          <p:nvPr/>
        </p:nvSpPr>
        <p:spPr>
          <a:xfrm>
            <a:off x="0" y="6613920"/>
            <a:ext cx="12191760" cy="260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ID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8" name="Content Placeholder 4"/>
          <p:cNvPicPr/>
          <p:nvPr/>
        </p:nvPicPr>
        <p:blipFill>
          <a:blip r:embed="rId1"/>
          <a:stretch/>
        </p:blipFill>
        <p:spPr>
          <a:xfrm>
            <a:off x="0" y="0"/>
            <a:ext cx="12191760" cy="4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6"/>
          <p:cNvSpPr/>
          <p:nvPr/>
        </p:nvSpPr>
        <p:spPr>
          <a:xfrm>
            <a:off x="2279160" y="82080"/>
            <a:ext cx="7633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nb-NO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Riset Kolaborasi Indonesia (RKI) EQUITY 2025-2026</a:t>
            </a:r>
            <a:endParaRPr lang="en-I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1"/>
          <p:cNvGrpSpPr/>
          <p:nvPr/>
        </p:nvGrpSpPr>
        <p:grpSpPr>
          <a:xfrm>
            <a:off x="300600" y="6634440"/>
            <a:ext cx="8371440" cy="222840"/>
            <a:chOff x="300600" y="6634440"/>
            <a:chExt cx="8371440" cy="222840"/>
          </a:xfrm>
        </p:grpSpPr>
        <p:sp>
          <p:nvSpPr>
            <p:cNvPr id="81" name="TextBox 2"/>
            <p:cNvSpPr/>
            <p:nvPr/>
          </p:nvSpPr>
          <p:spPr>
            <a:xfrm>
              <a:off x="4619160" y="6634440"/>
              <a:ext cx="4052880" cy="22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ID" sz="850" b="0" u="none" strike="noStrike">
                  <a:solidFill>
                    <a:schemeClr val="lt1"/>
                  </a:solidFill>
                  <a:effectLst/>
                  <a:uFillTx/>
                  <a:latin typeface="Aptos"/>
                </a:rPr>
                <a:t>Kantor: Gedung CRCS ITB Lantai 6, Jl. Ganesha No. 10, Bandung, 40132, Indonesia</a:t>
              </a:r>
              <a:endParaRPr lang="en-ID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2" name="Picture 3"/>
            <p:cNvPicPr/>
            <p:nvPr/>
          </p:nvPicPr>
          <p:blipFill>
            <a:blip r:embed="rId2"/>
            <a:stretch/>
          </p:blipFill>
          <p:spPr>
            <a:xfrm>
              <a:off x="300600" y="6677280"/>
              <a:ext cx="4212360" cy="133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83" name="Picture 14" descr="A blue and white logo with a white outline on it&#10;&#10;AI-generated content may be incorrect."/>
          <p:cNvPicPr/>
          <p:nvPr/>
        </p:nvPicPr>
        <p:blipFill>
          <a:blip r:embed="rId3"/>
          <a:stretch/>
        </p:blipFill>
        <p:spPr>
          <a:xfrm>
            <a:off x="234360" y="33480"/>
            <a:ext cx="385200" cy="3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16"/>
          <p:cNvSpPr/>
          <p:nvPr/>
        </p:nvSpPr>
        <p:spPr>
          <a:xfrm>
            <a:off x="9207000" y="6607080"/>
            <a:ext cx="31626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D" sz="1100" b="1" i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Meaningful Research, Impactful Innovation</a:t>
            </a:r>
            <a:endParaRPr lang="en-I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11"/>
          <p:cNvPicPr/>
          <p:nvPr/>
        </p:nvPicPr>
        <p:blipFill>
          <a:blip r:embed="rId4"/>
          <a:stretch/>
        </p:blipFill>
        <p:spPr>
          <a:xfrm>
            <a:off x="10954080" y="69480"/>
            <a:ext cx="100332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itle 1"/>
          <p:cNvSpPr/>
          <p:nvPr/>
        </p:nvSpPr>
        <p:spPr>
          <a:xfrm>
            <a:off x="1981080" y="74628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Identit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as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Penelit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ian</a:t>
            </a:r>
            <a:endParaRPr lang="en-ID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Table 7"/>
          <p:cNvGraphicFramePr/>
          <p:nvPr/>
        </p:nvGraphicFramePr>
        <p:xfrm>
          <a:off x="562320" y="1629720"/>
          <a:ext cx="10926720" cy="3689640"/>
        </p:xfrm>
        <a:graphic>
          <a:graphicData uri="http://schemas.openxmlformats.org/drawingml/2006/table">
            <a:tbl>
              <a:tblPr/>
              <a:tblGrid>
                <a:gridCol w="3588840"/>
                <a:gridCol w="7337880"/>
              </a:tblGrid>
              <a:tr h="472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Uraian</a:t>
                      </a:r>
                      <a:endParaRPr lang="en-ID" sz="2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Keterangan</a:t>
                      </a:r>
                      <a:endParaRPr lang="en-ID" sz="2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Skema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</a:t>
                      </a:r>
                      <a:endParaRPr lang="en-ID" sz="25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Nama Ketua Peneliti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Prof. Ir. Armein Z.R. Langi, M.Sc., Ph.D.</a:t>
                      </a:r>
                      <a:endParaRPr lang="en-ID" sz="25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Judul Penelitian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Pengembangan dan Validasi Model Pembelajaran VALORIZE: Kerangka Pedagogis Berbasis AI untuk Membentuk Identitas Profesional Rekayasawan di Era Digital</a:t>
                      </a:r>
                      <a:endParaRPr lang="en-ID" sz="25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Periode Pelaporan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Maret 2026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Tanggal Laporan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19 Maret 2026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Nilai Pendanaan (Rp)</a:t>
                      </a:r>
                      <a:endParaRPr lang="en-ID" sz="2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2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100.000.000,-</a:t>
                      </a:r>
                      <a:endParaRPr lang="en-ID" sz="25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7"/>
          <p:cNvSpPr/>
          <p:nvPr/>
        </p:nvSpPr>
        <p:spPr>
          <a:xfrm>
            <a:off x="0" y="6613920"/>
            <a:ext cx="12191760" cy="260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ID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89" name="Content Placeholder 4"/>
          <p:cNvPicPr/>
          <p:nvPr/>
        </p:nvPicPr>
        <p:blipFill>
          <a:blip r:embed="rId1"/>
          <a:stretch/>
        </p:blipFill>
        <p:spPr>
          <a:xfrm>
            <a:off x="0" y="0"/>
            <a:ext cx="12191760" cy="4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6"/>
          <p:cNvSpPr/>
          <p:nvPr/>
        </p:nvSpPr>
        <p:spPr>
          <a:xfrm>
            <a:off x="2279160" y="82080"/>
            <a:ext cx="7633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nb-NO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Riset Kolaborasi </a:t>
            </a:r>
            <a:r>
              <a:rPr lang="nb-NO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Indonesia (RKI) </a:t>
            </a:r>
            <a:r>
              <a:rPr lang="nb-NO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EQUITY 2025-</a:t>
            </a:r>
            <a:r>
              <a:rPr lang="nb-NO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2026</a:t>
            </a:r>
            <a:endParaRPr lang="en-I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1" name="Group 1"/>
          <p:cNvGrpSpPr/>
          <p:nvPr/>
        </p:nvGrpSpPr>
        <p:grpSpPr>
          <a:xfrm>
            <a:off x="300600" y="6634440"/>
            <a:ext cx="8371440" cy="222840"/>
            <a:chOff x="300600" y="6634440"/>
            <a:chExt cx="8371440" cy="222840"/>
          </a:xfrm>
        </p:grpSpPr>
        <p:sp>
          <p:nvSpPr>
            <p:cNvPr id="92" name="TextBox 2"/>
            <p:cNvSpPr/>
            <p:nvPr/>
          </p:nvSpPr>
          <p:spPr>
            <a:xfrm>
              <a:off x="4619160" y="6634440"/>
              <a:ext cx="4052880" cy="22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ID" sz="850" b="0" u="none" strike="noStrike">
                  <a:solidFill>
                    <a:schemeClr val="lt1"/>
                  </a:solidFill>
                  <a:effectLst/>
                  <a:uFillTx/>
                  <a:latin typeface="Aptos"/>
                </a:rPr>
                <a:t>Kantor: Gedung CRCS ITB Lantai 6, Jl. </a:t>
              </a:r>
              <a:r>
                <a:rPr lang="en-ID" sz="850" b="0" u="none" strike="noStrike">
                  <a:solidFill>
                    <a:schemeClr val="lt1"/>
                  </a:solidFill>
                  <a:effectLst/>
                  <a:uFillTx/>
                  <a:latin typeface="Aptos"/>
                </a:rPr>
                <a:t>Ganesha No. 10, Bandung, 40132, </a:t>
              </a:r>
              <a:r>
                <a:rPr lang="en-ID" sz="850" b="0" u="none" strike="noStrike">
                  <a:solidFill>
                    <a:schemeClr val="lt1"/>
                  </a:solidFill>
                  <a:effectLst/>
                  <a:uFillTx/>
                  <a:latin typeface="Aptos"/>
                </a:rPr>
                <a:t>Indonesia</a:t>
              </a:r>
              <a:endParaRPr lang="en-ID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3" name="Picture 3"/>
            <p:cNvPicPr/>
            <p:nvPr/>
          </p:nvPicPr>
          <p:blipFill>
            <a:blip r:embed="rId2"/>
            <a:stretch/>
          </p:blipFill>
          <p:spPr>
            <a:xfrm>
              <a:off x="300600" y="6677280"/>
              <a:ext cx="4212360" cy="133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94" name="Picture 14" descr="A blue and white logo with a white outline on it&#10;&#10;AI-generated content may be incorrect."/>
          <p:cNvPicPr/>
          <p:nvPr/>
        </p:nvPicPr>
        <p:blipFill>
          <a:blip r:embed="rId3"/>
          <a:stretch/>
        </p:blipFill>
        <p:spPr>
          <a:xfrm>
            <a:off x="234360" y="33480"/>
            <a:ext cx="385200" cy="3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Box 16"/>
          <p:cNvSpPr/>
          <p:nvPr/>
        </p:nvSpPr>
        <p:spPr>
          <a:xfrm>
            <a:off x="9207000" y="6607080"/>
            <a:ext cx="31626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D" sz="1100" b="1" i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Meaningful Research, Impactful Innovation</a:t>
            </a:r>
            <a:endParaRPr lang="en-I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11"/>
          <p:cNvPicPr/>
          <p:nvPr/>
        </p:nvPicPr>
        <p:blipFill>
          <a:blip r:embed="rId4"/>
          <a:stretch/>
        </p:blipFill>
        <p:spPr>
          <a:xfrm>
            <a:off x="10954080" y="69480"/>
            <a:ext cx="100332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itle 1"/>
          <p:cNvSpPr/>
          <p:nvPr/>
        </p:nvSpPr>
        <p:spPr>
          <a:xfrm>
            <a:off x="1981080" y="74628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4400" b="0" i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Progress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Kegiatan</a:t>
            </a:r>
            <a:endParaRPr lang="en-ID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Table 5"/>
          <p:cNvGraphicFramePr/>
          <p:nvPr/>
        </p:nvGraphicFramePr>
        <p:xfrm>
          <a:off x="785520" y="1648080"/>
          <a:ext cx="10926720" cy="2996640"/>
        </p:xfrm>
        <a:graphic>
          <a:graphicData uri="http://schemas.openxmlformats.org/drawingml/2006/table">
            <a:tbl>
              <a:tblPr/>
              <a:tblGrid>
                <a:gridCol w="2185200"/>
                <a:gridCol w="2185200"/>
                <a:gridCol w="2185200"/>
                <a:gridCol w="2185200"/>
                <a:gridCol w="2185200"/>
              </a:tblGrid>
              <a:tr h="749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Aktivitas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Target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Realisasi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Status (%)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Catatan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Update Dasar Teori</a:t>
                      </a:r>
                      <a:endParaRPr lang="en-ID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Lengkap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Lengkap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Basic Valorized Classroom </a:t>
                      </a:r>
                      <a:endParaRPr lang="en-ID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Desain, Implementasi, Operasional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Selesai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Github Classroom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Marketplace</a:t>
                      </a:r>
                      <a:endParaRPr lang="en-ID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Desain, Implementasi, Operasional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Desain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35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Publikasi</a:t>
                      </a:r>
                      <a:endParaRPr lang="en-ID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Draft, Submit, Review, Accepted, PUblished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Review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50%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Frontier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7"/>
          <p:cNvSpPr/>
          <p:nvPr/>
        </p:nvSpPr>
        <p:spPr>
          <a:xfrm>
            <a:off x="0" y="6613920"/>
            <a:ext cx="12191760" cy="260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ID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0" name="Content Placeholder 4"/>
          <p:cNvPicPr/>
          <p:nvPr/>
        </p:nvPicPr>
        <p:blipFill>
          <a:blip r:embed="rId1"/>
          <a:stretch/>
        </p:blipFill>
        <p:spPr>
          <a:xfrm>
            <a:off x="0" y="0"/>
            <a:ext cx="12191760" cy="4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6"/>
          <p:cNvSpPr/>
          <p:nvPr/>
        </p:nvSpPr>
        <p:spPr>
          <a:xfrm>
            <a:off x="2279160" y="82080"/>
            <a:ext cx="7633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nb-NO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Riset Kolaborasi Indonesia (RKI) EQUITY 2025-2026</a:t>
            </a:r>
            <a:endParaRPr lang="en-I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Group 1"/>
          <p:cNvGrpSpPr/>
          <p:nvPr/>
        </p:nvGrpSpPr>
        <p:grpSpPr>
          <a:xfrm>
            <a:off x="300600" y="6634440"/>
            <a:ext cx="8371440" cy="222840"/>
            <a:chOff x="300600" y="6634440"/>
            <a:chExt cx="8371440" cy="222840"/>
          </a:xfrm>
        </p:grpSpPr>
        <p:sp>
          <p:nvSpPr>
            <p:cNvPr id="103" name="TextBox 2"/>
            <p:cNvSpPr/>
            <p:nvPr/>
          </p:nvSpPr>
          <p:spPr>
            <a:xfrm>
              <a:off x="4619160" y="6634440"/>
              <a:ext cx="4052880" cy="22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ID" sz="850" b="0" u="none" strike="noStrike">
                  <a:solidFill>
                    <a:schemeClr val="lt1"/>
                  </a:solidFill>
                  <a:effectLst/>
                  <a:uFillTx/>
                  <a:latin typeface="Aptos"/>
                </a:rPr>
                <a:t>Kantor: Gedung CRCS ITB Lantai 6, Jl. Ganesha No. 10, Bandung, 40132, Indonesia</a:t>
              </a:r>
              <a:endParaRPr lang="en-ID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4" name="Picture 3"/>
            <p:cNvPicPr/>
            <p:nvPr/>
          </p:nvPicPr>
          <p:blipFill>
            <a:blip r:embed="rId2"/>
            <a:stretch/>
          </p:blipFill>
          <p:spPr>
            <a:xfrm>
              <a:off x="300600" y="6677280"/>
              <a:ext cx="4212360" cy="133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05" name="Picture 14" descr="A blue and white logo with a white outline on it&#10;&#10;AI-generated content may be incorrect."/>
          <p:cNvPicPr/>
          <p:nvPr/>
        </p:nvPicPr>
        <p:blipFill>
          <a:blip r:embed="rId3"/>
          <a:stretch/>
        </p:blipFill>
        <p:spPr>
          <a:xfrm>
            <a:off x="234360" y="33480"/>
            <a:ext cx="385200" cy="3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16"/>
          <p:cNvSpPr/>
          <p:nvPr/>
        </p:nvSpPr>
        <p:spPr>
          <a:xfrm>
            <a:off x="9207000" y="6607080"/>
            <a:ext cx="31626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D" sz="1100" b="1" i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Meaningful Research, Impactful Innovation</a:t>
            </a:r>
            <a:endParaRPr lang="en-I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1"/>
          <p:cNvPicPr/>
          <p:nvPr/>
        </p:nvPicPr>
        <p:blipFill>
          <a:blip r:embed="rId4"/>
          <a:stretch/>
        </p:blipFill>
        <p:spPr>
          <a:xfrm>
            <a:off x="10954080" y="69480"/>
            <a:ext cx="100332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itle 1"/>
          <p:cNvSpPr/>
          <p:nvPr/>
        </p:nvSpPr>
        <p:spPr>
          <a:xfrm>
            <a:off x="1981080" y="74628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algn="ctr" defTabSz="457200">
              <a:lnSpc>
                <a:spcPct val="100000"/>
              </a:lnSpc>
            </a:pPr>
            <a:r>
              <a:rPr lang="en-US" sz="4400" b="0" i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Progress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Penyerapan Anggaran</a:t>
            </a:r>
            <a:endParaRPr lang="en-ID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9" name="Table 5"/>
          <p:cNvGraphicFramePr/>
          <p:nvPr/>
        </p:nvGraphicFramePr>
        <p:xfrm>
          <a:off x="754560" y="1952640"/>
          <a:ext cx="10515240" cy="19209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8720"/>
                <a:gridCol w="2628720"/>
              </a:tblGrid>
              <a:tr h="9604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Pagu (Rp)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Realiasi (Rp)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Sisa (Rp)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Serapan (%)</a:t>
                      </a:r>
                      <a:endParaRPr lang="en-ID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960480"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100.000.000,-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75.500.000,-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24.500.000,-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D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75.5%</a:t>
                      </a:r>
                      <a:endParaRPr lang="en-ID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7"/>
          <p:cNvSpPr/>
          <p:nvPr/>
        </p:nvSpPr>
        <p:spPr>
          <a:xfrm>
            <a:off x="0" y="6613920"/>
            <a:ext cx="12191760" cy="260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ID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11" name="Content Placeholder 4"/>
          <p:cNvPicPr/>
          <p:nvPr/>
        </p:nvPicPr>
        <p:blipFill>
          <a:blip r:embed="rId1"/>
          <a:stretch/>
        </p:blipFill>
        <p:spPr>
          <a:xfrm>
            <a:off x="0" y="0"/>
            <a:ext cx="12191760" cy="48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6"/>
          <p:cNvSpPr/>
          <p:nvPr/>
        </p:nvSpPr>
        <p:spPr>
          <a:xfrm>
            <a:off x="2279160" y="82080"/>
            <a:ext cx="76330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nb-NO" sz="16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Riset Kolaborasi Indonesia (RKI) EQUITY 2025-2026</a:t>
            </a:r>
            <a:endParaRPr lang="en-ID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Group 1"/>
          <p:cNvGrpSpPr/>
          <p:nvPr/>
        </p:nvGrpSpPr>
        <p:grpSpPr>
          <a:xfrm>
            <a:off x="300600" y="6634440"/>
            <a:ext cx="8371440" cy="222840"/>
            <a:chOff x="300600" y="6634440"/>
            <a:chExt cx="8371440" cy="222840"/>
          </a:xfrm>
        </p:grpSpPr>
        <p:sp>
          <p:nvSpPr>
            <p:cNvPr id="114" name="TextBox 2"/>
            <p:cNvSpPr/>
            <p:nvPr/>
          </p:nvSpPr>
          <p:spPr>
            <a:xfrm>
              <a:off x="4619160" y="6634440"/>
              <a:ext cx="4052880" cy="22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lang="en-ID" sz="850" b="0" u="none" strike="noStrike">
                  <a:solidFill>
                    <a:schemeClr val="lt1"/>
                  </a:solidFill>
                  <a:effectLst/>
                  <a:uFillTx/>
                  <a:latin typeface="Aptos"/>
                </a:rPr>
                <a:t>Kantor: Gedung CRCS ITB Lantai 6, Jl. Ganesha No. 10, Bandung, 40132, Indonesia</a:t>
              </a:r>
              <a:endParaRPr lang="en-ID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5" name="Picture 3"/>
            <p:cNvPicPr/>
            <p:nvPr/>
          </p:nvPicPr>
          <p:blipFill>
            <a:blip r:embed="rId2"/>
            <a:stretch/>
          </p:blipFill>
          <p:spPr>
            <a:xfrm>
              <a:off x="300600" y="6677280"/>
              <a:ext cx="4212360" cy="1339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16" name="Picture 14" descr="A blue and white logo with a white outline on it&#10;&#10;AI-generated content may be incorrect."/>
          <p:cNvPicPr/>
          <p:nvPr/>
        </p:nvPicPr>
        <p:blipFill>
          <a:blip r:embed="rId3"/>
          <a:stretch/>
        </p:blipFill>
        <p:spPr>
          <a:xfrm>
            <a:off x="234360" y="33480"/>
            <a:ext cx="385200" cy="38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Box 16"/>
          <p:cNvSpPr/>
          <p:nvPr/>
        </p:nvSpPr>
        <p:spPr>
          <a:xfrm>
            <a:off x="9207000" y="6607080"/>
            <a:ext cx="31626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ID" sz="1100" b="1" i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Meaningful Research, Impactful Innovation</a:t>
            </a:r>
            <a:endParaRPr lang="en-ID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11"/>
          <p:cNvPicPr/>
          <p:nvPr/>
        </p:nvPicPr>
        <p:blipFill>
          <a:blip r:embed="rId4"/>
          <a:stretch/>
        </p:blipFill>
        <p:spPr>
          <a:xfrm>
            <a:off x="10954080" y="69480"/>
            <a:ext cx="100332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itle 1"/>
          <p:cNvSpPr/>
          <p:nvPr/>
        </p:nvSpPr>
        <p:spPr>
          <a:xfrm>
            <a:off x="1981080" y="74628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Keterangan/Catatan</a:t>
            </a:r>
            <a:endParaRPr lang="en-ID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5"/>
          <a:stretch/>
        </p:blipFill>
        <p:spPr>
          <a:xfrm>
            <a:off x="2615760" y="1764360"/>
            <a:ext cx="6056280" cy="504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B22E84EB18424489BDA27C2A28B748" ma:contentTypeVersion="11" ma:contentTypeDescription="Create a new document." ma:contentTypeScope="" ma:versionID="d5410471292b801e3e3e85fcaf7da6c0">
  <xsd:schema xmlns:xsd="http://www.w3.org/2001/XMLSchema" xmlns:xs="http://www.w3.org/2001/XMLSchema" xmlns:p="http://schemas.microsoft.com/office/2006/metadata/properties" xmlns:ns2="3d1efcfb-9e7e-4830-a8ac-6edd5d27774a" xmlns:ns3="eb56072c-1cb2-45a8-8851-906914d4f003" targetNamespace="http://schemas.microsoft.com/office/2006/metadata/properties" ma:root="true" ma:fieldsID="1a6d81341c9851f15c85092ffcfcd8bb" ns2:_="" ns3:_="">
    <xsd:import namespace="3d1efcfb-9e7e-4830-a8ac-6edd5d27774a"/>
    <xsd:import namespace="eb56072c-1cb2-45a8-8851-906914d4f0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1efcfb-9e7e-4830-a8ac-6edd5d2777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8f57f67-4e9a-4485-b8e2-eec27c405d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6072c-1cb2-45a8-8851-906914d4f00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95eb01-cd3b-4500-98ac-e571fc382bbd}" ma:internalName="TaxCatchAll" ma:showField="CatchAllData" ma:web="eb56072c-1cb2-45a8-8851-906914d4f0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b56072c-1cb2-45a8-8851-906914d4f003" xsi:nil="true"/>
    <lcf76f155ced4ddcb4097134ff3c332f xmlns="3d1efcfb-9e7e-4830-a8ac-6edd5d27774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B5E2E7-1495-4AC0-96E0-1D17203F4D3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d1efcfb-9e7e-4830-a8ac-6edd5d27774a"/>
    <ds:schemaRef ds:uri="eb56072c-1cb2-45a8-8851-906914d4f00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AD6843-326D-4588-AA92-49D5F549504B}">
  <ds:schemaRefs>
    <ds:schemaRef ds:uri="http://schemas.microsoft.com/office/2006/metadata/properties"/>
    <ds:schemaRef ds:uri="http://www.w3.org/2000/xmlns/"/>
    <ds:schemaRef ds:uri="eb56072c-1cb2-45a8-8851-906914d4f003"/>
    <ds:schemaRef ds:uri="http://www.w3.org/2001/XMLSchema-instance"/>
    <ds:schemaRef ds:uri="3d1efcfb-9e7e-4830-a8ac-6edd5d27774a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7379F60-D395-4810-A879-4AC649853E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5298</TotalTime>
  <Application>LibreOffice/26.2.1.2$Windows_X86_64 LibreOffice_project/620$Build-2</Application>
  <AppVersion>15.0000</AppVersion>
  <Words>284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2025-07-09T01:55:32Z</dcterms:created>
  <dc:creator>Suyanto, A.Md.</dc:creator>
  <dc:description/>
  <dc:language>en-ID</dc:language>
  <cp:lastModifiedBy/>
  <dcterms:modified xsi:type="dcterms:W3CDTF">2026-03-19T08:44:49Z</dcterms:modified>
  <cp:revision>181</cp:revision>
  <dc:subject/>
  <dc:title>INFORMASI PROGRAM RISET, INOVASI DAN 3P  Direktorat Riset dan Inovasi ITB Tahun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0x0101003EB22E84EB18424489BDA27C2A28B748</vt:lpwstr>
  </property>
  <property fmtid="{D5CDD505-2E9C-101B-9397-08002B2CF9AE}" pid="3" name="MSIP_Label_38b525e5-f3da-4501-8f1e-526b6769fc56_ActionId">
    <vt:lpwstr>2020605f-0cb5-4d62-bbac-88b0c9c921ee</vt:lpwstr>
  </property>
  <property fmtid="{D5CDD505-2E9C-101B-9397-08002B2CF9AE}" pid="4" name="MSIP_Label_38b525e5-f3da-4501-8f1e-526b6769fc56_ContentBits">
    <vt:lpwstr>0</vt:lpwstr>
  </property>
  <property fmtid="{D5CDD505-2E9C-101B-9397-08002B2CF9AE}" pid="5" name="MSIP_Label_38b525e5-f3da-4501-8f1e-526b6769fc56_Enabled">
    <vt:lpwstr>true</vt:lpwstr>
  </property>
  <property fmtid="{D5CDD505-2E9C-101B-9397-08002B2CF9AE}" pid="6" name="MSIP_Label_38b525e5-f3da-4501-8f1e-526b6769fc56_Method">
    <vt:lpwstr>Standard</vt:lpwstr>
  </property>
  <property fmtid="{D5CDD505-2E9C-101B-9397-08002B2CF9AE}" pid="7" name="MSIP_Label_38b525e5-f3da-4501-8f1e-526b6769fc56_Name">
    <vt:lpwstr>defa4170-0d19-0005-0004-bc88714345d2</vt:lpwstr>
  </property>
  <property fmtid="{D5CDD505-2E9C-101B-9397-08002B2CF9AE}" pid="8" name="MSIP_Label_38b525e5-f3da-4501-8f1e-526b6769fc56_SetDate">
    <vt:lpwstr>2025-07-09T01:55:55Z</vt:lpwstr>
  </property>
  <property fmtid="{D5CDD505-2E9C-101B-9397-08002B2CF9AE}" pid="9" name="MSIP_Label_38b525e5-f3da-4501-8f1e-526b6769fc56_SiteId">
    <vt:lpwstr>db6e1183-4c65-405c-82ce-7cd53fa6e9dc</vt:lpwstr>
  </property>
  <property fmtid="{D5CDD505-2E9C-101B-9397-08002B2CF9AE}" pid="10" name="MSIP_Label_38b525e5-f3da-4501-8f1e-526b6769fc56_Tag">
    <vt:lpwstr>10, 3, 0, 1</vt:lpwstr>
  </property>
  <property fmtid="{D5CDD505-2E9C-101B-9397-08002B2CF9AE}" pid="11" name="MediaServiceImageTags">
    <vt:lpwstr/>
  </property>
  <property fmtid="{D5CDD505-2E9C-101B-9397-08002B2CF9AE}" pid="12" name="Notes">
    <vt:i4>5</vt:i4>
  </property>
  <property fmtid="{D5CDD505-2E9C-101B-9397-08002B2CF9AE}" pid="13" name="PresentationFormat">
    <vt:lpwstr>Widescreen</vt:lpwstr>
  </property>
  <property fmtid="{D5CDD505-2E9C-101B-9397-08002B2CF9AE}" pid="14" name="Slides">
    <vt:i4>5</vt:i4>
  </property>
</Properties>
</file>