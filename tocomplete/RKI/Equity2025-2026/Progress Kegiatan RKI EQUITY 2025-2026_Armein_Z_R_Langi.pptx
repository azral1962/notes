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6357039" d="3932222"/>
          <a:sy n="7602208" d="6815856"/>
        </p:scale>
        <p:origin x="7733326" y="7471184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328729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  <a:defRPr/>
            </a:pPr>
            <a:r>
              <a:rPr lang="en-US" sz="6000" b="0" u="none" strike="noStrike">
                <a:solidFill>
                  <a:schemeClr val="dk1"/>
                </a:solidFill>
                <a:latin typeface="Aptos Display"/>
              </a:rPr>
              <a:t>Click to move the slide</a:t>
            </a:r>
            <a:endParaRPr lang="en-US" sz="60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230923066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ID" sz="2000" b="0" u="none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lang="en-ID" sz="2000" b="0" u="none" strike="noStrike">
                <a:solidFill>
                  <a:srgbClr val="000000"/>
                </a:solidFill>
                <a:latin typeface="Arial"/>
              </a:rPr>
              <a:t>notes format</a:t>
            </a:r>
            <a:endParaRPr lang="en-ID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929994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297320" name="PlaceHolder 4"/>
          <p:cNvSpPr>
            <a:spLocks noGrp="1"/>
          </p:cNvSpPr>
          <p:nvPr>
            <p:ph type="dt" idx="3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35519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482815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8737EA40-75AA-4C6F-8B35-CBD5864F3B56}" type="slidenum"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98735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3116435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en-ID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257571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ID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168F74E4-617E-495A-8095-81A84845E215}" type="slidenum">
              <a:rPr lang="en-ID" sz="1200" b="0" u="none" strike="noStrike">
                <a:solidFill>
                  <a:srgbClr val="000000"/>
                </a:solidFill>
                <a:latin typeface="Times New Roman"/>
              </a:rPr>
              <a:t>5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90229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5715312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en-ID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838949" name="PlaceHolder 3"/>
          <p:cNvSpPr>
            <a:spLocks noGrp="1"/>
          </p:cNvSpPr>
          <p:nvPr>
            <p:ph type="sldNum" idx="3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ID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A98036F7-800B-4C27-94BF-E1CCA4DFFAEC}" type="slidenum">
              <a:rPr lang="en-ID" sz="1200" b="0" u="none" strike="noStrike">
                <a:solidFill>
                  <a:srgbClr val="000000"/>
                </a:solidFill>
                <a:latin typeface="Times New Roman"/>
              </a:rPr>
              <a:t>5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38197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37560749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en-ID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204541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ID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8474E2F1-C4E1-4C18-AB19-30751194EA78}" type="slidenum">
              <a:rPr lang="en-ID" sz="1200" b="0" u="none" strike="noStrike">
                <a:solidFill>
                  <a:srgbClr val="000000"/>
                </a:solidFill>
                <a:latin typeface="Times New Roman"/>
              </a:rPr>
              <a:t>5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32516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9600169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en-ID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4147" name="PlaceHolder 3"/>
          <p:cNvSpPr>
            <a:spLocks noGrp="1"/>
          </p:cNvSpPr>
          <p:nvPr>
            <p:ph type="sldNum" idx="4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ID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CB7F3700-C5A0-4C12-9068-BBD6F559DB93}" type="slidenum">
              <a:rPr lang="en-ID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074094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8186064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en-ID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645463" name="PlaceHolder 3"/>
          <p:cNvSpPr>
            <a:spLocks noGrp="1"/>
          </p:cNvSpPr>
          <p:nvPr>
            <p:ph type="sldNum" idx="4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ID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0DD2AB4D-8AB4-4C6E-8CA7-9F1AA84A057B}" type="slidenum">
              <a:rPr lang="en-ID" sz="12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95E690-DCB6-B506-276E-1A2EC2F207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601500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en-US" sz="60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1024454173" name="PlaceHolder 2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834823" name="PlaceHolder 3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383353" name="PlaceHolder 4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C6FFFF6-7A39-4E93-94BE-A4C56881C5A9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329345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1800" b="0" u="none" strike="noStrike">
                <a:solidFill>
                  <a:schemeClr val="dk1"/>
                </a:solidFill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612171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147052814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08761121" name="PlaceHolder 3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378970" name="PlaceHolder 4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251173" name="PlaceHolder 5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341942-4C94-41A6-8E3B-5A6C7DB0B701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485606" name="PlaceHolder 1"/>
          <p:cNvSpPr>
            <a:spLocks noGrp="1"/>
          </p:cNvSpPr>
          <p:nvPr>
            <p:ph type="title"/>
          </p:nvPr>
        </p:nvSpPr>
        <p:spPr bwMode="auto"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1351981729" name="PlaceHolder 2"/>
          <p:cNvSpPr>
            <a:spLocks noGrp="1"/>
          </p:cNvSpPr>
          <p:nvPr>
            <p:ph type="body"/>
          </p:nvPr>
        </p:nvSpPr>
        <p:spPr bwMode="auto"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32866566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6589747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136272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66E9071-864C-4604-93F0-746756AE4C20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87113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45347468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978323165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887088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799786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0A71D4C-363E-4B5B-A69E-E2638F4BBE2E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048718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60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236221412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5240" cy="1499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latin typeface="Aptos"/>
            </a:endParaRPr>
          </a:p>
        </p:txBody>
      </p:sp>
      <p:sp>
        <p:nvSpPr>
          <p:cNvPr id="2138468022" name="PlaceHolder 3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844706" name="PlaceHolder 4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868200" name="PlaceHolder 5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817EA9B-11C7-4A35-B193-ED69ACF47108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47057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213226653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74562398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84052661" name="PlaceHolder 4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1738672" name="PlaceHolder 5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517678" name="PlaceHolder 6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9AFCE88-229F-4D7A-AE65-21DB2DA1CB74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745219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2066988109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400" b="1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10132272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30715780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400" b="1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617763951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26478617" name="PlaceHolder 6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502554" name="PlaceHolder 7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311820" name="PlaceHolder 8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1760465-AD21-4BFE-BDDB-4B0D9708D691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724603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830368906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391945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322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8ADB22C-3D33-4DD1-A86A-A941C5A886D3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63690" name="PlaceHolder 1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827148" name="PlaceHolder 2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255706" name="PlaceHolder 3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279BB3E-FAE9-4CDD-AA69-DA372E141244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933045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1386088482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60543930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584371725" name="PlaceHolder 4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992970" name="PlaceHolder 5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071172" name="PlaceHolder 6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C43954F-CFF5-4506-B5FE-F57510BE36FA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867633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latin typeface="Aptos Display"/>
            </a:endParaRPr>
          </a:p>
        </p:txBody>
      </p:sp>
      <p:sp>
        <p:nvSpPr>
          <p:cNvPr id="1775468861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28488703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66871454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29240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D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ID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ID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614052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1B202B0-82EF-4529-81AA-70B3E00B96DD}" type="slidenum">
              <a:rPr lang="en-ID" sz="1200" b="0" u="none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lang="en-ID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582879" name="Rectangle 17"/>
          <p:cNvSpPr/>
          <p:nvPr/>
        </p:nvSpPr>
        <p:spPr bwMode="auto">
          <a:xfrm>
            <a:off x="0" y="6613920"/>
            <a:ext cx="12191760" cy="260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en-ID" sz="1800" b="0" u="none" strike="noStrike">
              <a:solidFill>
                <a:schemeClr val="dk1"/>
              </a:solidFill>
              <a:latin typeface="Aptos"/>
            </a:endParaRPr>
          </a:p>
        </p:txBody>
      </p:sp>
      <p:pic>
        <p:nvPicPr>
          <p:cNvPr id="2023880552" name="Content Placeholder 4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91760" cy="4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8592713" name="TextBox 6"/>
          <p:cNvSpPr/>
          <p:nvPr/>
        </p:nvSpPr>
        <p:spPr bwMode="auto">
          <a:xfrm>
            <a:off x="2279160" y="82080"/>
            <a:ext cx="7633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defRPr/>
            </a:pPr>
            <a:r>
              <a:rPr lang="nb-NO" sz="1600" b="1" u="none" strike="noStrike">
                <a:solidFill>
                  <a:schemeClr val="dk1"/>
                </a:solidFill>
                <a:latin typeface="Aptos"/>
              </a:rPr>
              <a:t>Riset Kolaborasi Indonesia (RKI) EQUITY 2025-2026</a:t>
            </a:r>
            <a:endParaRPr lang="en-ID" sz="1600" b="0" u="none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51379453" name="Group 1"/>
          <p:cNvGrpSpPr/>
          <p:nvPr/>
        </p:nvGrpSpPr>
        <p:grpSpPr bwMode="auto">
          <a:xfrm>
            <a:off x="300600" y="6634440"/>
            <a:ext cx="8371440" cy="222840"/>
            <a:chOff x="300600" y="6634440"/>
            <a:chExt cx="8371440" cy="222840"/>
          </a:xfrm>
        </p:grpSpPr>
        <p:sp>
          <p:nvSpPr>
            <p:cNvPr id="70" name="TextBox 2"/>
            <p:cNvSpPr/>
            <p:nvPr/>
          </p:nvSpPr>
          <p:spPr bwMode="auto">
            <a:xfrm>
              <a:off x="4619160" y="6634440"/>
              <a:ext cx="4052880" cy="22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914400">
                <a:lnSpc>
                  <a:spcPct val="100000"/>
                </a:lnSpc>
                <a:defRPr/>
              </a:pPr>
              <a:r>
                <a:rPr lang="en-ID" sz="850" b="0" u="none" strike="noStrike">
                  <a:solidFill>
                    <a:schemeClr val="dk1"/>
                  </a:solidFill>
                  <a:latin typeface="Aptos"/>
                </a:rPr>
                <a:t>Kantor: Gedung CRCS ITB Lantai 6, Jl. Ganesha No. 10, Bandung, 40132, Indonesia</a:t>
              </a:r>
              <a:endParaRPr lang="en-ID" sz="850" b="0" u="none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71" name="Picture 3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00600" y="6677280"/>
              <a:ext cx="4212360" cy="1339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408136853" name="Picture 14" descr="A blue and white logo with a white outline on it&#10;&#10;AI-generated content may be incorrect."/>
          <p:cNvPicPr/>
          <p:nvPr/>
        </p:nvPicPr>
        <p:blipFill rotWithShape="1">
          <a:blip r:embed="rId5"/>
          <a:stretch/>
        </p:blipFill>
        <p:spPr bwMode="auto">
          <a:xfrm>
            <a:off x="234360" y="33480"/>
            <a:ext cx="385200" cy="3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1432413" name="TextBox 16"/>
          <p:cNvSpPr/>
          <p:nvPr/>
        </p:nvSpPr>
        <p:spPr bwMode="auto">
          <a:xfrm>
            <a:off x="9207000" y="6607080"/>
            <a:ext cx="3162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ID" sz="1100" b="1" i="1" u="none" strike="noStrike">
                <a:solidFill>
                  <a:schemeClr val="dk1"/>
                </a:solidFill>
                <a:latin typeface="Aptos"/>
              </a:rPr>
              <a:t>Meaningful Research, </a:t>
            </a:r>
            <a:r>
              <a:rPr lang="en-ID" sz="1100" b="1" i="1" u="none" strike="noStrike">
                <a:solidFill>
                  <a:schemeClr val="dk1"/>
                </a:solidFill>
                <a:latin typeface="Aptos"/>
              </a:rPr>
              <a:t>Impactful Innovation</a:t>
            </a:r>
            <a:endParaRPr lang="en-ID" sz="1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3320219" name="Picture 11"/>
          <p:cNvPicPr/>
          <p:nvPr/>
        </p:nvPicPr>
        <p:blipFill rotWithShape="1">
          <a:blip r:embed="rId6"/>
          <a:stretch/>
        </p:blipFill>
        <p:spPr bwMode="auto">
          <a:xfrm>
            <a:off x="10954079" y="69480"/>
            <a:ext cx="1003320" cy="3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3589358" name="Title 1"/>
          <p:cNvSpPr/>
          <p:nvPr/>
        </p:nvSpPr>
        <p:spPr bwMode="auto">
          <a:xfrm>
            <a:off x="2025000" y="1031400"/>
            <a:ext cx="8141760" cy="24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algn="ctr" defTabSz="457200">
              <a:lnSpc>
                <a:spcPct val="100000"/>
              </a:lnSpc>
              <a:defRPr/>
            </a:pP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Lapor</a:t>
            </a: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an </a:t>
            </a:r>
            <a:r>
              <a:rPr lang="en-US" sz="5000" b="0" i="1" u="none" strike="noStrike">
                <a:solidFill>
                  <a:schemeClr val="dk1"/>
                </a:solidFill>
                <a:latin typeface="Aptos Display"/>
              </a:rPr>
              <a:t>Progre</a:t>
            </a:r>
            <a:r>
              <a:rPr lang="en-US" sz="5000" b="0" i="1" u="none" strike="noStrike">
                <a:solidFill>
                  <a:schemeClr val="dk1"/>
                </a:solidFill>
                <a:latin typeface="Aptos Display"/>
              </a:rPr>
              <a:t>ss</a:t>
            </a:r>
            <a:endParaRPr lang="en-ID" sz="5000" b="0" u="none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defRPr/>
            </a:pP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RKI </a:t>
            </a: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EQUIT</a:t>
            </a: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Y </a:t>
            </a: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2025–</a:t>
            </a:r>
            <a:r>
              <a:rPr lang="en-US" sz="5000" b="0" u="none" strike="noStrike">
                <a:solidFill>
                  <a:schemeClr val="dk1"/>
                </a:solidFill>
                <a:latin typeface="Aptos Display"/>
              </a:rPr>
              <a:t>2026</a:t>
            </a:r>
            <a:endParaRPr lang="en-ID" sz="5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683962" name="Subtitle 2"/>
          <p:cNvSpPr/>
          <p:nvPr/>
        </p:nvSpPr>
        <p:spPr bwMode="auto">
          <a:xfrm>
            <a:off x="2209680" y="4186440"/>
            <a:ext cx="8141760" cy="16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ctr" defTabSz="457200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  <a:defRPr/>
            </a:pPr>
            <a:r>
              <a:rPr lang="en-US" sz="3200" b="0" i="1" u="none" strike="noStrike">
                <a:solidFill>
                  <a:schemeClr val="dk1"/>
                </a:solidFill>
                <a:latin typeface="Aptos"/>
              </a:rPr>
              <a:t>Progress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kegiatan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dan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penyerap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an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anggaran</a:t>
            </a:r>
            <a:endParaRPr lang="en-ID" sz="3200" b="0" u="none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Direktora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t Riset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dan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Inovasi </a:t>
            </a:r>
            <a:r>
              <a:rPr lang="en-US" sz="3200" b="0" u="none" strike="noStrike">
                <a:solidFill>
                  <a:schemeClr val="dk1"/>
                </a:solidFill>
                <a:latin typeface="Aptos"/>
              </a:rPr>
              <a:t>ITB</a:t>
            </a:r>
            <a:endParaRPr lang="en-ID" sz="3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345349" name="Rectangle 17"/>
          <p:cNvSpPr/>
          <p:nvPr/>
        </p:nvSpPr>
        <p:spPr bwMode="auto">
          <a:xfrm>
            <a:off x="0" y="6613920"/>
            <a:ext cx="12191760" cy="260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en-ID" sz="1800" b="0" u="none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1683018791" name="Content Placeholder 4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91760" cy="4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3619792" name="TextBox 6"/>
          <p:cNvSpPr/>
          <p:nvPr/>
        </p:nvSpPr>
        <p:spPr bwMode="auto">
          <a:xfrm>
            <a:off x="2279160" y="82080"/>
            <a:ext cx="7633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defRPr/>
            </a:pP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Riset Kolaborasi Indonesia (RKI) EQUITY 2025-2026</a:t>
            </a:r>
            <a:endParaRPr lang="en-ID" sz="1600" b="0" u="none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50785883" name="Group 1"/>
          <p:cNvGrpSpPr/>
          <p:nvPr/>
        </p:nvGrpSpPr>
        <p:grpSpPr bwMode="auto">
          <a:xfrm>
            <a:off x="300600" y="6634440"/>
            <a:ext cx="8371440" cy="222840"/>
            <a:chOff x="300600" y="6634440"/>
            <a:chExt cx="8371440" cy="222840"/>
          </a:xfrm>
        </p:grpSpPr>
        <p:sp>
          <p:nvSpPr>
            <p:cNvPr id="81" name="TextBox 2"/>
            <p:cNvSpPr/>
            <p:nvPr/>
          </p:nvSpPr>
          <p:spPr bwMode="auto">
            <a:xfrm>
              <a:off x="4619160" y="6634440"/>
              <a:ext cx="4052880" cy="22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914400">
                <a:lnSpc>
                  <a:spcPct val="100000"/>
                </a:lnSpc>
                <a:defRPr/>
              </a:pPr>
              <a:r>
                <a:rPr lang="en-ID" sz="850" b="0" u="none" strike="noStrike">
                  <a:solidFill>
                    <a:schemeClr val="lt1"/>
                  </a:solidFill>
                  <a:latin typeface="Aptos"/>
                </a:rPr>
                <a:t>Kantor: Gedung CRCS ITB Lantai 6, Jl. Ganesha No. 10, Bandung, 40132, Indonesia</a:t>
              </a:r>
              <a:endParaRPr lang="en-ID" sz="850" b="0" u="none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82" name="Picture 3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00600" y="6677280"/>
              <a:ext cx="4212360" cy="1339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2125495821" name="Picture 14" descr="A blue and white logo with a white outline on it&#10;&#10;AI-generated content may be incorrect."/>
          <p:cNvPicPr/>
          <p:nvPr/>
        </p:nvPicPr>
        <p:blipFill rotWithShape="1">
          <a:blip r:embed="rId5"/>
          <a:stretch/>
        </p:blipFill>
        <p:spPr bwMode="auto">
          <a:xfrm>
            <a:off x="234360" y="33480"/>
            <a:ext cx="385200" cy="3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0700655" name="TextBox 16"/>
          <p:cNvSpPr/>
          <p:nvPr/>
        </p:nvSpPr>
        <p:spPr bwMode="auto">
          <a:xfrm>
            <a:off x="9207000" y="6607080"/>
            <a:ext cx="3162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ID" sz="1100" b="1" i="1" u="none" strike="noStrike">
                <a:solidFill>
                  <a:schemeClr val="lt1"/>
                </a:solidFill>
                <a:latin typeface="Aptos"/>
              </a:rPr>
              <a:t>Meaningful Research, Impactful Innovation</a:t>
            </a:r>
            <a:endParaRPr lang="en-ID" sz="1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0320444" name="Picture 11"/>
          <p:cNvPicPr/>
          <p:nvPr/>
        </p:nvPicPr>
        <p:blipFill rotWithShape="1">
          <a:blip r:embed="rId6"/>
          <a:stretch/>
        </p:blipFill>
        <p:spPr bwMode="auto">
          <a:xfrm>
            <a:off x="10954079" y="69480"/>
            <a:ext cx="1003320" cy="3380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</p:pic>
      <p:sp>
        <p:nvSpPr>
          <p:cNvPr id="900075555" name="Title 1"/>
          <p:cNvSpPr/>
          <p:nvPr/>
        </p:nvSpPr>
        <p:spPr bwMode="auto">
          <a:xfrm>
            <a:off x="1981080" y="7462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algn="ctr" defTabSz="457200">
              <a:lnSpc>
                <a:spcPct val="100000"/>
              </a:lnSpc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Identit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as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Penelit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ian</a:t>
            </a:r>
            <a:endParaRPr lang="en-ID" sz="4400" b="0" u="none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90074112" name="Table 7"/>
          <p:cNvGraphicFramePr>
            <a:graphicFrameLocks xmlns:a="http://schemas.openxmlformats.org/drawingml/2006/main"/>
          </p:cNvGraphicFramePr>
          <p:nvPr/>
        </p:nvGraphicFramePr>
        <p:xfrm rot="0">
          <a:off x="562320" y="1629720"/>
          <a:ext cx="10926720" cy="368964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588840"/>
                <a:gridCol w="7337880"/>
              </a:tblGrid>
              <a:tr h="47268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Uraian</a:t>
                      </a:r>
                      <a:endParaRPr lang="en-ID" sz="25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Keterangan</a:t>
                      </a:r>
                      <a:endParaRPr lang="en-ID" sz="25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Skema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B</a:t>
                      </a:r>
                      <a:endParaRPr lang="en-ID" sz="25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Nama Ketua Peneliti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Prof. Ir. Armein Z.R. Langi, M.Sc., Ph.D.</a:t>
                      </a:r>
                      <a:endParaRPr lang="en-ID" sz="25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Judul Penelitian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Pengembangan dan Validasi Model Pembelajaran VALORIZE: Kerangka Pedagogis Berbasis AI untuk Membentuk Identitas Profesional Rekayasawan di Era Digital</a:t>
                      </a:r>
                      <a:endParaRPr lang="en-ID" sz="25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Periode Pelaporan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Maret 2026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Tanggal Laporan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19 Maret 2026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Nilai Pendanaan (Rp)</a:t>
                      </a:r>
                      <a:endParaRPr lang="en-ID" sz="25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25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100.000.000,-</a:t>
                      </a:r>
                      <a:endParaRPr lang="en-ID" sz="25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78523" name="Rectangle 17"/>
          <p:cNvSpPr/>
          <p:nvPr/>
        </p:nvSpPr>
        <p:spPr bwMode="auto">
          <a:xfrm>
            <a:off x="0" y="6613920"/>
            <a:ext cx="12191760" cy="260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en-ID" sz="1800" b="0" u="none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1763401878" name="Content Placeholder 4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91760" cy="4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1137840" name="TextBox 6"/>
          <p:cNvSpPr/>
          <p:nvPr/>
        </p:nvSpPr>
        <p:spPr bwMode="auto">
          <a:xfrm>
            <a:off x="2279160" y="82080"/>
            <a:ext cx="7633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defRPr/>
            </a:pP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Riset Kolaborasi </a:t>
            </a: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Indonesia (RKI) </a:t>
            </a: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EQUITY 2025-</a:t>
            </a: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2026</a:t>
            </a:r>
            <a:endParaRPr lang="en-ID" sz="1600" b="0" u="none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1403448" name="Group 1"/>
          <p:cNvGrpSpPr/>
          <p:nvPr/>
        </p:nvGrpSpPr>
        <p:grpSpPr bwMode="auto">
          <a:xfrm>
            <a:off x="300600" y="6634440"/>
            <a:ext cx="8371440" cy="222840"/>
            <a:chOff x="300600" y="6634440"/>
            <a:chExt cx="8371440" cy="222840"/>
          </a:xfrm>
        </p:grpSpPr>
        <p:sp>
          <p:nvSpPr>
            <p:cNvPr id="92" name="TextBox 2"/>
            <p:cNvSpPr/>
            <p:nvPr/>
          </p:nvSpPr>
          <p:spPr bwMode="auto">
            <a:xfrm>
              <a:off x="4619160" y="6634440"/>
              <a:ext cx="4052880" cy="22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914400">
                <a:lnSpc>
                  <a:spcPct val="100000"/>
                </a:lnSpc>
                <a:defRPr/>
              </a:pPr>
              <a:r>
                <a:rPr lang="en-ID" sz="850" b="0" u="none" strike="noStrike">
                  <a:solidFill>
                    <a:schemeClr val="lt1"/>
                  </a:solidFill>
                  <a:latin typeface="Aptos"/>
                </a:rPr>
                <a:t>Kantor: Gedung CRCS ITB Lantai 6, Jl. </a:t>
              </a:r>
              <a:r>
                <a:rPr lang="en-ID" sz="850" b="0" u="none" strike="noStrike">
                  <a:solidFill>
                    <a:schemeClr val="lt1"/>
                  </a:solidFill>
                  <a:latin typeface="Aptos"/>
                </a:rPr>
                <a:t>Ganesha No. 10, Bandung, 40132, </a:t>
              </a:r>
              <a:r>
                <a:rPr lang="en-ID" sz="850" b="0" u="none" strike="noStrike">
                  <a:solidFill>
                    <a:schemeClr val="lt1"/>
                  </a:solidFill>
                  <a:latin typeface="Aptos"/>
                </a:rPr>
                <a:t>Indonesia</a:t>
              </a:r>
              <a:endParaRPr lang="en-ID" sz="850" b="0" u="none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93" name="Picture 3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00600" y="6677280"/>
              <a:ext cx="4212360" cy="1339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2086413677" name="Picture 14" descr="A blue and white logo with a white outline on it&#10;&#10;AI-generated content may be incorrect."/>
          <p:cNvPicPr/>
          <p:nvPr/>
        </p:nvPicPr>
        <p:blipFill rotWithShape="1">
          <a:blip r:embed="rId5"/>
          <a:stretch/>
        </p:blipFill>
        <p:spPr bwMode="auto">
          <a:xfrm>
            <a:off x="234360" y="33480"/>
            <a:ext cx="385200" cy="3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8547790" name="TextBox 16"/>
          <p:cNvSpPr/>
          <p:nvPr/>
        </p:nvSpPr>
        <p:spPr bwMode="auto">
          <a:xfrm>
            <a:off x="9207000" y="6607080"/>
            <a:ext cx="3162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ID" sz="1100" b="1" i="1" u="none" strike="noStrike">
                <a:solidFill>
                  <a:schemeClr val="lt1"/>
                </a:solidFill>
                <a:latin typeface="Aptos"/>
              </a:rPr>
              <a:t>Meaningful Research, Impactful Innovation</a:t>
            </a:r>
            <a:endParaRPr lang="en-ID" sz="1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5405462" name="Picture 11"/>
          <p:cNvPicPr/>
          <p:nvPr/>
        </p:nvPicPr>
        <p:blipFill rotWithShape="1">
          <a:blip r:embed="rId6"/>
          <a:stretch/>
        </p:blipFill>
        <p:spPr bwMode="auto">
          <a:xfrm>
            <a:off x="10954079" y="69480"/>
            <a:ext cx="1003320" cy="3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8940037" name="Title 1"/>
          <p:cNvSpPr/>
          <p:nvPr/>
        </p:nvSpPr>
        <p:spPr bwMode="auto">
          <a:xfrm>
            <a:off x="1981080" y="7462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algn="ctr" defTabSz="457200">
              <a:lnSpc>
                <a:spcPct val="100000"/>
              </a:lnSpc>
              <a:defRPr/>
            </a:pPr>
            <a:r>
              <a:rPr lang="en-US" sz="4400" b="0" i="1" u="none" strike="noStrike">
                <a:solidFill>
                  <a:schemeClr val="dk1"/>
                </a:solidFill>
                <a:latin typeface="Aptos Display"/>
              </a:rPr>
              <a:t>Progress 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Kegiatan</a:t>
            </a:r>
            <a:endParaRPr lang="en-ID" sz="4400" b="0" u="none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45578541" name="Table 5"/>
          <p:cNvGraphicFramePr>
            <a:graphicFrameLocks xmlns:a="http://schemas.openxmlformats.org/drawingml/2006/main"/>
          </p:cNvGraphicFramePr>
          <p:nvPr/>
        </p:nvGraphicFramePr>
        <p:xfrm rot="0">
          <a:off x="785520" y="1648080"/>
          <a:ext cx="10926720" cy="299664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85200"/>
                <a:gridCol w="2185200"/>
                <a:gridCol w="2185200"/>
                <a:gridCol w="2185200"/>
                <a:gridCol w="2185200"/>
              </a:tblGrid>
              <a:tr h="749160"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Aktivitas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Target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Realisasi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Status (%)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Catatan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</a:tr>
              <a:tr h="74916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Update Dasar Teori</a:t>
                      </a:r>
                      <a:endParaRPr lang="en-ID" sz="18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Lengkap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Lengkap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100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74916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Basic Valorized Classroom </a:t>
                      </a:r>
                      <a:endParaRPr lang="en-ID" sz="18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Desain, Implementasi, Operasional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Selesai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100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Github Classroom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</a:tr>
              <a:tr h="74916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Marketplace</a:t>
                      </a:r>
                      <a:endParaRPr lang="en-ID" sz="18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Desain, Implementasi, Operasional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Desain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35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7491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rgbClr val="000000"/>
                          </a:solidFill>
                          <a:latin typeface="Arial"/>
                        </a:rPr>
                        <a:t>Publikasi</a:t>
                      </a:r>
                      <a:endParaRPr lang="en-ID" sz="1800" b="0" u="none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Draft, Submit, Review, Accepted, PUblished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Review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50%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Frontier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18903" name="Rectangle 17"/>
          <p:cNvSpPr/>
          <p:nvPr/>
        </p:nvSpPr>
        <p:spPr bwMode="auto">
          <a:xfrm>
            <a:off x="0" y="6613920"/>
            <a:ext cx="12191760" cy="260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en-ID" sz="1800" b="0" u="none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1369401632" name="Content Placeholder 4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91760" cy="4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8862646" name="TextBox 6"/>
          <p:cNvSpPr/>
          <p:nvPr/>
        </p:nvSpPr>
        <p:spPr bwMode="auto">
          <a:xfrm>
            <a:off x="2279160" y="82080"/>
            <a:ext cx="7633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defRPr/>
            </a:pP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Riset Kolaborasi Indonesia (RKI) EQUITY 2025-2026</a:t>
            </a:r>
            <a:endParaRPr lang="en-ID" sz="1600" b="0" u="none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4049358" name="Group 1"/>
          <p:cNvGrpSpPr/>
          <p:nvPr/>
        </p:nvGrpSpPr>
        <p:grpSpPr bwMode="auto">
          <a:xfrm>
            <a:off x="300600" y="6634440"/>
            <a:ext cx="8371440" cy="222840"/>
            <a:chOff x="300600" y="6634440"/>
            <a:chExt cx="8371440" cy="222840"/>
          </a:xfrm>
        </p:grpSpPr>
        <p:sp>
          <p:nvSpPr>
            <p:cNvPr id="103" name="TextBox 2"/>
            <p:cNvSpPr/>
            <p:nvPr/>
          </p:nvSpPr>
          <p:spPr bwMode="auto">
            <a:xfrm>
              <a:off x="4619160" y="6634440"/>
              <a:ext cx="4052880" cy="22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914400">
                <a:lnSpc>
                  <a:spcPct val="100000"/>
                </a:lnSpc>
                <a:defRPr/>
              </a:pPr>
              <a:r>
                <a:rPr lang="en-ID" sz="850" b="0" u="none" strike="noStrike">
                  <a:solidFill>
                    <a:schemeClr val="lt1"/>
                  </a:solidFill>
                  <a:latin typeface="Aptos"/>
                </a:rPr>
                <a:t>Kantor: Gedung CRCS ITB Lantai 6, Jl. Ganesha No. 10, Bandung, 40132, Indonesia</a:t>
              </a:r>
              <a:endParaRPr lang="en-ID" sz="850" b="0" u="none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04" name="Picture 3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00600" y="6677280"/>
              <a:ext cx="4212360" cy="1339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908516428" name="Picture 14" descr="A blue and white logo with a white outline on it&#10;&#10;AI-generated content may be incorrect."/>
          <p:cNvPicPr/>
          <p:nvPr/>
        </p:nvPicPr>
        <p:blipFill rotWithShape="1">
          <a:blip r:embed="rId5"/>
          <a:stretch/>
        </p:blipFill>
        <p:spPr bwMode="auto">
          <a:xfrm>
            <a:off x="234360" y="33480"/>
            <a:ext cx="385200" cy="3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1308946" name="TextBox 16"/>
          <p:cNvSpPr/>
          <p:nvPr/>
        </p:nvSpPr>
        <p:spPr bwMode="auto">
          <a:xfrm>
            <a:off x="9207000" y="6607080"/>
            <a:ext cx="3162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ID" sz="1100" b="1" i="1" u="none" strike="noStrike">
                <a:solidFill>
                  <a:schemeClr val="lt1"/>
                </a:solidFill>
                <a:latin typeface="Aptos"/>
              </a:rPr>
              <a:t>Meaningful Research, Impactful Innovation</a:t>
            </a:r>
            <a:endParaRPr lang="en-ID" sz="1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7461192" name="Picture 11"/>
          <p:cNvPicPr/>
          <p:nvPr/>
        </p:nvPicPr>
        <p:blipFill rotWithShape="1">
          <a:blip r:embed="rId6"/>
          <a:stretch/>
        </p:blipFill>
        <p:spPr bwMode="auto">
          <a:xfrm>
            <a:off x="10954079" y="69480"/>
            <a:ext cx="1003320" cy="3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7242305" name="Title 1"/>
          <p:cNvSpPr/>
          <p:nvPr/>
        </p:nvSpPr>
        <p:spPr bwMode="auto">
          <a:xfrm>
            <a:off x="1981080" y="7462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 fontScale="92500" lnSpcReduction="9999"/>
          </a:bodyPr>
          <a:p>
            <a:pPr algn="ctr" defTabSz="457200">
              <a:lnSpc>
                <a:spcPct val="100000"/>
              </a:lnSpc>
              <a:defRPr/>
            </a:pPr>
            <a:r>
              <a:rPr lang="en-US" sz="4400" b="0" i="1" u="none" strike="noStrike">
                <a:solidFill>
                  <a:schemeClr val="dk1"/>
                </a:solidFill>
                <a:latin typeface="Aptos Display"/>
              </a:rPr>
              <a:t>Progress</a:t>
            </a: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 Penyerapan Anggaran</a:t>
            </a:r>
            <a:endParaRPr lang="en-ID" sz="4400" b="0" u="none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0922251" name="Table 5"/>
          <p:cNvGraphicFramePr>
            <a:graphicFrameLocks xmlns:a="http://schemas.openxmlformats.org/drawingml/2006/main"/>
          </p:cNvGraphicFramePr>
          <p:nvPr/>
        </p:nvGraphicFramePr>
        <p:xfrm rot="0">
          <a:off x="754560" y="1952640"/>
          <a:ext cx="10515240" cy="192096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628720"/>
                <a:gridCol w="2628720"/>
                <a:gridCol w="2628720"/>
                <a:gridCol w="2628720"/>
              </a:tblGrid>
              <a:tr h="960480"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Pagu (Rp)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Realiasi (Rp)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Sisa (Rp)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p>
                      <a:pPr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latin typeface="Aptos"/>
                        </a:rPr>
                        <a:t>Serapan (%)</a:t>
                      </a:r>
                      <a:endParaRPr lang="en-ID" sz="1800" b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91440" marR="91440" marT="45720" marB="45720" anchor="ctr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38160" algn="ctr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</a:tr>
              <a:tr h="960480"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100.000.000,-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75.500.000,-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24.500.000,-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ID" sz="1800" b="0" u="none" strike="noStrike">
                          <a:solidFill>
                            <a:schemeClr val="dk1"/>
                          </a:solidFill>
                          <a:latin typeface="Aptos"/>
                        </a:rPr>
                        <a:t>75.5%</a:t>
                      </a:r>
                      <a:endParaRPr lang="en-ID" sz="1800" b="0" u="none" strike="noStrike">
                        <a:solidFill>
                          <a:schemeClr val="dk1"/>
                        </a:solidFill>
                        <a:latin typeface="Aptos"/>
                      </a:endParaRPr>
                    </a:p>
                  </a:txBody>
                  <a:tcPr marL="91440" marR="91440" marT="45720" marB="45720" anchor="t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3924" name="Rectangle 17"/>
          <p:cNvSpPr/>
          <p:nvPr/>
        </p:nvSpPr>
        <p:spPr bwMode="auto">
          <a:xfrm>
            <a:off x="0" y="6613920"/>
            <a:ext cx="12191760" cy="260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>
              <a:defRPr/>
            </a:pPr>
            <a:endParaRPr lang="en-ID" sz="1800" b="0" u="none" strike="noStrike">
              <a:solidFill>
                <a:schemeClr val="lt1"/>
              </a:solidFill>
              <a:latin typeface="Aptos"/>
            </a:endParaRPr>
          </a:p>
        </p:txBody>
      </p:sp>
      <p:pic>
        <p:nvPicPr>
          <p:cNvPr id="522312664" name="Content Placeholder 4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91760" cy="4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7859636" name="TextBox 6"/>
          <p:cNvSpPr/>
          <p:nvPr/>
        </p:nvSpPr>
        <p:spPr bwMode="auto">
          <a:xfrm>
            <a:off x="2279160" y="82080"/>
            <a:ext cx="7633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defRPr/>
            </a:pPr>
            <a:r>
              <a:rPr lang="nb-NO" sz="1600" b="1" u="none" strike="noStrike">
                <a:solidFill>
                  <a:schemeClr val="lt1"/>
                </a:solidFill>
                <a:latin typeface="Aptos"/>
              </a:rPr>
              <a:t>Riset Kolaborasi Indonesia (RKI) EQUITY 2025-2026</a:t>
            </a:r>
            <a:endParaRPr lang="en-ID" sz="1600" b="0" u="none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320012" name="Group 1"/>
          <p:cNvGrpSpPr/>
          <p:nvPr/>
        </p:nvGrpSpPr>
        <p:grpSpPr bwMode="auto">
          <a:xfrm>
            <a:off x="300600" y="6634440"/>
            <a:ext cx="8371440" cy="222840"/>
            <a:chOff x="300600" y="6634440"/>
            <a:chExt cx="8371440" cy="222840"/>
          </a:xfrm>
        </p:grpSpPr>
        <p:sp>
          <p:nvSpPr>
            <p:cNvPr id="114" name="TextBox 2"/>
            <p:cNvSpPr/>
            <p:nvPr/>
          </p:nvSpPr>
          <p:spPr bwMode="auto">
            <a:xfrm>
              <a:off x="4619160" y="6634440"/>
              <a:ext cx="4052880" cy="22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914400">
                <a:lnSpc>
                  <a:spcPct val="100000"/>
                </a:lnSpc>
                <a:defRPr/>
              </a:pPr>
              <a:r>
                <a:rPr lang="en-ID" sz="850" b="0" u="none" strike="noStrike">
                  <a:solidFill>
                    <a:schemeClr val="lt1"/>
                  </a:solidFill>
                  <a:latin typeface="Aptos"/>
                </a:rPr>
                <a:t>Kantor: Gedung CRCS ITB Lantai 6, Jl. Ganesha No. 10, Bandung, 40132, Indonesia</a:t>
              </a:r>
              <a:endParaRPr lang="en-ID" sz="850" b="0" u="none" strike="noStrike">
                <a:solidFill>
                  <a:srgbClr val="000000"/>
                </a:solidFill>
                <a:latin typeface="Arial"/>
              </a:endParaRPr>
            </a:p>
          </p:txBody>
        </p:sp>
        <p:pic>
          <p:nvPicPr>
            <p:cNvPr id="115" name="Picture 3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00600" y="6677280"/>
              <a:ext cx="4212360" cy="1339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411076487" name="Picture 14" descr="A blue and white logo with a white outline on it&#10;&#10;AI-generated content may be incorrect."/>
          <p:cNvPicPr/>
          <p:nvPr/>
        </p:nvPicPr>
        <p:blipFill rotWithShape="1">
          <a:blip r:embed="rId5"/>
          <a:stretch/>
        </p:blipFill>
        <p:spPr bwMode="auto">
          <a:xfrm>
            <a:off x="234360" y="33480"/>
            <a:ext cx="385200" cy="3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093808" name="TextBox 16"/>
          <p:cNvSpPr/>
          <p:nvPr/>
        </p:nvSpPr>
        <p:spPr bwMode="auto">
          <a:xfrm>
            <a:off x="9207000" y="6607080"/>
            <a:ext cx="316260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ID" sz="1100" b="1" i="1" u="none" strike="noStrike">
                <a:solidFill>
                  <a:schemeClr val="lt1"/>
                </a:solidFill>
                <a:latin typeface="Aptos"/>
              </a:rPr>
              <a:t>Meaningful Research, Impactful Innovation</a:t>
            </a:r>
            <a:endParaRPr lang="en-ID" sz="1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5434371" name="Picture 11"/>
          <p:cNvPicPr/>
          <p:nvPr/>
        </p:nvPicPr>
        <p:blipFill rotWithShape="1">
          <a:blip r:embed="rId6"/>
          <a:stretch/>
        </p:blipFill>
        <p:spPr bwMode="auto">
          <a:xfrm>
            <a:off x="10954079" y="69480"/>
            <a:ext cx="1003320" cy="3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0996446" name="Title 1"/>
          <p:cNvSpPr/>
          <p:nvPr/>
        </p:nvSpPr>
        <p:spPr bwMode="auto">
          <a:xfrm>
            <a:off x="1981080" y="74628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algn="ctr" defTabSz="457200">
              <a:lnSpc>
                <a:spcPct val="100000"/>
              </a:lnSpc>
              <a:defRPr/>
            </a:pPr>
            <a:r>
              <a:rPr lang="en-US" sz="4400" b="0" u="none" strike="noStrike">
                <a:solidFill>
                  <a:schemeClr val="dk1"/>
                </a:solidFill>
                <a:latin typeface="Aptos Display"/>
              </a:rPr>
              <a:t>Keterangan/Catatan</a:t>
            </a:r>
            <a:endParaRPr lang="en-ID" sz="44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3388066" name=""/>
          <p:cNvPicPr/>
          <p:nvPr/>
        </p:nvPicPr>
        <p:blipFill rotWithShape="1">
          <a:blip r:embed="rId7"/>
          <a:stretch/>
        </p:blipFill>
        <p:spPr bwMode="auto">
          <a:xfrm>
            <a:off x="2615760" y="1764360"/>
            <a:ext cx="6056280" cy="5046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717659" name=""/>
          <p:cNvSpPr txBox="1"/>
          <p:nvPr/>
        </p:nvSpPr>
        <p:spPr bwMode="auto">
          <a:xfrm rot="0" flipH="0" flipV="0">
            <a:off x="4875375" y="3307079"/>
            <a:ext cx="2441249" cy="2438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ID" b="0" u="none" strike="noStrike">
                <a:solidFill>
                  <a:schemeClr val="dk1"/>
                </a:solidFill>
                <a:latin typeface="Aptos"/>
              </a:rPr>
              <a:t>Prof. Ir. Armein Z.R. Langi, M.Sc., Ph.D.</a:t>
            </a:r>
            <a:endParaRPr lang="en-ID" sz="2500" b="0" u="none" strike="noStrike">
              <a:solidFill>
                <a:schemeClr val="dk1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ONLYOFFICE/9.2.1.43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INFORMASI PROGRAM RISET, INOVASI DAN 3P  Direktorat Riset dan Inovasi ITB Tahun 2026</dc:title>
  <dc:subject/>
  <dc:creator>Suyanto, A.Md.</dc:creator>
  <dc:description/>
  <dc:language>en-ID</dc:language>
  <cp:lastModifiedBy/>
  <cp:revision>182</cp:revision>
  <dcterms:created xsi:type="dcterms:W3CDTF">2025-07-09T01:55:32Z</dcterms:created>
  <dcterms:modified xsi:type="dcterms:W3CDTF">2026-04-22T05:14:32Z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0x0101003EB22E84EB18424489BDA27C2A28B748</vt:lpwstr>
  </property>
  <property fmtid="{D5CDD505-2E9C-101B-9397-08002B2CF9AE}" pid="3" name="MSIP_Label_38b525e5-f3da-4501-8f1e-526b6769fc56_ActionId">
    <vt:lpwstr>2020605f-0cb5-4d62-bbac-88b0c9c921ee</vt:lpwstr>
  </property>
  <property fmtid="{D5CDD505-2E9C-101B-9397-08002B2CF9AE}" pid="4" name="MSIP_Label_38b525e5-f3da-4501-8f1e-526b6769fc56_ContentBits">
    <vt:lpwstr>0</vt:lpwstr>
  </property>
  <property fmtid="{D5CDD505-2E9C-101B-9397-08002B2CF9AE}" pid="5" name="MSIP_Label_38b525e5-f3da-4501-8f1e-526b6769fc56_Enabled">
    <vt:lpwstr>true</vt:lpwstr>
  </property>
  <property fmtid="{D5CDD505-2E9C-101B-9397-08002B2CF9AE}" pid="6" name="MSIP_Label_38b525e5-f3da-4501-8f1e-526b6769fc56_Method">
    <vt:lpwstr>Standard</vt:lpwstr>
  </property>
  <property fmtid="{D5CDD505-2E9C-101B-9397-08002B2CF9AE}" pid="7" name="MSIP_Label_38b525e5-f3da-4501-8f1e-526b6769fc56_Name">
    <vt:lpwstr>defa4170-0d19-0005-0004-bc88714345d2</vt:lpwstr>
  </property>
  <property fmtid="{D5CDD505-2E9C-101B-9397-08002B2CF9AE}" pid="8" name="MSIP_Label_38b525e5-f3da-4501-8f1e-526b6769fc56_SetDate">
    <vt:lpwstr>2025-07-09T01:55:55Z</vt:lpwstr>
  </property>
  <property fmtid="{D5CDD505-2E9C-101B-9397-08002B2CF9AE}" pid="9" name="MSIP_Label_38b525e5-f3da-4501-8f1e-526b6769fc56_SiteId">
    <vt:lpwstr>db6e1183-4c65-405c-82ce-7cd53fa6e9dc</vt:lpwstr>
  </property>
  <property fmtid="{D5CDD505-2E9C-101B-9397-08002B2CF9AE}" pid="10" name="MSIP_Label_38b525e5-f3da-4501-8f1e-526b6769fc56_Tag">
    <vt:lpwstr>10, 3, 0, 1</vt:lpwstr>
  </property>
  <property fmtid="{D5CDD505-2E9C-101B-9397-08002B2CF9AE}" pid="11" name="MediaServiceImageTags">
    <vt:lpwstr/>
  </property>
  <property fmtid="{D5CDD505-2E9C-101B-9397-08002B2CF9AE}" pid="12" name="Notes">
    <vt:i4>5</vt:i4>
  </property>
  <property fmtid="{D5CDD505-2E9C-101B-9397-08002B2CF9AE}" pid="13" name="PresentationFormat">
    <vt:lpwstr>Widescreen</vt:lpwstr>
  </property>
  <property fmtid="{D5CDD505-2E9C-101B-9397-08002B2CF9AE}" pid="14" name="Slides">
    <vt:i4>5</vt:i4>
  </property>
</Properties>
</file>